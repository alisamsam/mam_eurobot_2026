
<file path=[Content_Types].xml><?xml version="1.0" encoding="utf-8"?>
<Types xmlns="http://schemas.openxmlformats.org/package/2006/content-types">
  <Default Extension="glb" ContentType="model/gltf.binary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omments/modernComment_121_0.xml" ContentType="application/vnd.ms-powerpoint.comments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4"/>
  </p:sldMasterIdLst>
  <p:notesMasterIdLst>
    <p:notesMasterId r:id="rId16"/>
  </p:notesMasterIdLst>
  <p:handoutMasterIdLst>
    <p:handoutMasterId r:id="rId17"/>
  </p:handoutMasterIdLst>
  <p:sldIdLst>
    <p:sldId id="281" r:id="rId5"/>
    <p:sldId id="282" r:id="rId6"/>
    <p:sldId id="283" r:id="rId7"/>
    <p:sldId id="288" r:id="rId8"/>
    <p:sldId id="294" r:id="rId9"/>
    <p:sldId id="295" r:id="rId10"/>
    <p:sldId id="291" r:id="rId11"/>
    <p:sldId id="290" r:id="rId12"/>
    <p:sldId id="289" r:id="rId13"/>
    <p:sldId id="296" r:id="rId14"/>
    <p:sldId id="292" r:id="rId15"/>
  </p:sldIdLst>
  <p:sldSz cx="10058400" cy="7772400"/>
  <p:notesSz cx="6858000" cy="9144000"/>
  <p:defaultTextStyle>
    <a:defPPr>
      <a:defRPr lang="en-US"/>
    </a:defPPr>
    <a:lvl1pPr marL="0" algn="l" defTabSz="1018540" rtl="0" eaLnBrk="1" latinLnBrk="0" hangingPunct="1">
      <a:defRPr sz="2005" kern="1200">
        <a:solidFill>
          <a:schemeClr val="tx1"/>
        </a:solidFill>
        <a:latin typeface="+mn-lt"/>
        <a:ea typeface="+mn-ea"/>
        <a:cs typeface="+mn-cs"/>
      </a:defRPr>
    </a:lvl1pPr>
    <a:lvl2pPr marL="509270" algn="l" defTabSz="1018540" rtl="0" eaLnBrk="1" latinLnBrk="0" hangingPunct="1">
      <a:defRPr sz="2005" kern="1200">
        <a:solidFill>
          <a:schemeClr val="tx1"/>
        </a:solidFill>
        <a:latin typeface="+mn-lt"/>
        <a:ea typeface="+mn-ea"/>
        <a:cs typeface="+mn-cs"/>
      </a:defRPr>
    </a:lvl2pPr>
    <a:lvl3pPr marL="1018540" algn="l" defTabSz="1018540" rtl="0" eaLnBrk="1" latinLnBrk="0" hangingPunct="1">
      <a:defRPr sz="2005" kern="1200">
        <a:solidFill>
          <a:schemeClr val="tx1"/>
        </a:solidFill>
        <a:latin typeface="+mn-lt"/>
        <a:ea typeface="+mn-ea"/>
        <a:cs typeface="+mn-cs"/>
      </a:defRPr>
    </a:lvl3pPr>
    <a:lvl4pPr marL="1528445" algn="l" defTabSz="1018540" rtl="0" eaLnBrk="1" latinLnBrk="0" hangingPunct="1">
      <a:defRPr sz="2005" kern="1200">
        <a:solidFill>
          <a:schemeClr val="tx1"/>
        </a:solidFill>
        <a:latin typeface="+mn-lt"/>
        <a:ea typeface="+mn-ea"/>
        <a:cs typeface="+mn-cs"/>
      </a:defRPr>
    </a:lvl4pPr>
    <a:lvl5pPr marL="2037715" algn="l" defTabSz="1018540" rtl="0" eaLnBrk="1" latinLnBrk="0" hangingPunct="1">
      <a:defRPr sz="2005" kern="1200">
        <a:solidFill>
          <a:schemeClr val="tx1"/>
        </a:solidFill>
        <a:latin typeface="+mn-lt"/>
        <a:ea typeface="+mn-ea"/>
        <a:cs typeface="+mn-cs"/>
      </a:defRPr>
    </a:lvl5pPr>
    <a:lvl6pPr marL="2546985" algn="l" defTabSz="1018540" rtl="0" eaLnBrk="1" latinLnBrk="0" hangingPunct="1">
      <a:defRPr sz="2005" kern="1200">
        <a:solidFill>
          <a:schemeClr val="tx1"/>
        </a:solidFill>
        <a:latin typeface="+mn-lt"/>
        <a:ea typeface="+mn-ea"/>
        <a:cs typeface="+mn-cs"/>
      </a:defRPr>
    </a:lvl6pPr>
    <a:lvl7pPr marL="3056255" algn="l" defTabSz="1018540" rtl="0" eaLnBrk="1" latinLnBrk="0" hangingPunct="1">
      <a:defRPr sz="2005" kern="1200">
        <a:solidFill>
          <a:schemeClr val="tx1"/>
        </a:solidFill>
        <a:latin typeface="+mn-lt"/>
        <a:ea typeface="+mn-ea"/>
        <a:cs typeface="+mn-cs"/>
      </a:defRPr>
    </a:lvl7pPr>
    <a:lvl8pPr marL="3566160" algn="l" defTabSz="1018540" rtl="0" eaLnBrk="1" latinLnBrk="0" hangingPunct="1">
      <a:defRPr sz="2005" kern="1200">
        <a:solidFill>
          <a:schemeClr val="tx1"/>
        </a:solidFill>
        <a:latin typeface="+mn-lt"/>
        <a:ea typeface="+mn-ea"/>
        <a:cs typeface="+mn-cs"/>
      </a:defRPr>
    </a:lvl8pPr>
    <a:lvl9pPr marL="4075430" algn="l" defTabSz="1018540" rtl="0" eaLnBrk="1" latinLnBrk="0" hangingPunct="1">
      <a:defRPr sz="2005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448" userDrawn="1">
          <p15:clr>
            <a:srgbClr val="A4A3A4"/>
          </p15:clr>
        </p15:guide>
        <p15:guide id="2" pos="316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6B21BD05-0AFB-0A95-7667-C65993416782}" name="Papa-Madiara Sene" initials="PS" userId="S::papa-madiara.sene@etu.univ-smb.fr::3095c3e5-2e0b-4de2-a5fa-758dccb09853" providerId="AD"/>
  <p188:author id="{B0A3660C-66C1-DEE5-A6B5-C01CD5E5C58D}" name="Samsaam-Ali Baig" initials="SB" userId="S::samsaam-ali.baig@etu.univ-smb.fr::e774e39e-b71f-495a-b2c4-4031f2c15ea7" providerId="AD"/>
  <p188:author id="{2E6BE547-99B0-759E-9CE8-A5D748F8ED1A}" name="Samsaam-Ali Baig" initials="SB" userId="S::Samsaam-Ali.Baig@etu.univ-smb.fr::e774e39e-b71f-495a-b2c4-4031f2c15ea7" providerId="AD"/>
  <p188:author id="{429B196D-971B-6E34-7C9C-AFFEB75118D6}" name="Sidy Thiaw" initials="ST" userId="S::sidy.thiaw@etu.univ-smb.fr::3f896d6d-6d11-4f26-a8ab-d06947f03d3c" providerId="AD"/>
  <p188:author id="{CC542680-FC06-7163-068E-FF439AEABF90}" name="Zad Abou-Jaoude" initials="ZA" userId="S::Zad.Abou-Jaoude@etu.univ-smb.fr::c3f33ae0-34c3-43cb-b9bd-d8041c9be236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70C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CAF912C-C215-3B0B-D9C7-9EB18AAA9B27}" v="7" dt="2026-01-22T14:04:34.47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448"/>
        <p:guide pos="3168"/>
      </p:guideLst>
    </p:cSldViewPr>
  </p:slide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8/10/relationships/authors" Target="author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Zad Abou-Jaoude" userId="S::zad.abou-jaoude@etu.univ-smb.fr::c3f33ae0-34c3-43cb-b9bd-d8041c9be236" providerId="AD" clId="Web-{DCAF912C-C215-3B0B-D9C7-9EB18AAA9B27}"/>
    <pc:docChg chg="modSld">
      <pc:chgData name="Zad Abou-Jaoude" userId="S::zad.abou-jaoude@etu.univ-smb.fr::c3f33ae0-34c3-43cb-b9bd-d8041c9be236" providerId="AD" clId="Web-{DCAF912C-C215-3B0B-D9C7-9EB18AAA9B27}" dt="2026-01-22T14:04:34.472" v="6" actId="1076"/>
      <pc:docMkLst>
        <pc:docMk/>
      </pc:docMkLst>
      <pc:sldChg chg="modSp">
        <pc:chgData name="Zad Abou-Jaoude" userId="S::zad.abou-jaoude@etu.univ-smb.fr::c3f33ae0-34c3-43cb-b9bd-d8041c9be236" providerId="AD" clId="Web-{DCAF912C-C215-3B0B-D9C7-9EB18AAA9B27}" dt="2026-01-22T14:04:34.472" v="6" actId="1076"/>
        <pc:sldMkLst>
          <pc:docMk/>
          <pc:sldMk cId="0" sldId="295"/>
        </pc:sldMkLst>
        <pc:picChg chg="mod">
          <ac:chgData name="Zad Abou-Jaoude" userId="S::zad.abou-jaoude@etu.univ-smb.fr::c3f33ae0-34c3-43cb-b9bd-d8041c9be236" providerId="AD" clId="Web-{DCAF912C-C215-3B0B-D9C7-9EB18AAA9B27}" dt="2026-01-22T14:04:28.753" v="5" actId="1076"/>
          <ac:picMkLst>
            <pc:docMk/>
            <pc:sldMk cId="0" sldId="295"/>
            <ac:picMk id="10" creationId="{977291A0-3F73-EBBA-136D-E75DBBA2E8EB}"/>
          </ac:picMkLst>
        </pc:picChg>
        <pc:picChg chg="mod">
          <ac:chgData name="Zad Abou-Jaoude" userId="S::zad.abou-jaoude@etu.univ-smb.fr::c3f33ae0-34c3-43cb-b9bd-d8041c9be236" providerId="AD" clId="Web-{DCAF912C-C215-3B0B-D9C7-9EB18AAA9B27}" dt="2026-01-22T14:04:34.472" v="6" actId="1076"/>
          <ac:picMkLst>
            <pc:docMk/>
            <pc:sldMk cId="0" sldId="295"/>
            <ac:picMk id="12" creationId="{EA5558DB-F8BB-4BA2-B798-8B53B74330EB}"/>
          </ac:picMkLst>
        </pc:picChg>
        <pc:picChg chg="mod">
          <ac:chgData name="Zad Abou-Jaoude" userId="S::zad.abou-jaoude@etu.univ-smb.fr::c3f33ae0-34c3-43cb-b9bd-d8041c9be236" providerId="AD" clId="Web-{DCAF912C-C215-3B0B-D9C7-9EB18AAA9B27}" dt="2026-01-22T14:03:54.909" v="3" actId="1076"/>
          <ac:picMkLst>
            <pc:docMk/>
            <pc:sldMk cId="0" sldId="295"/>
            <ac:picMk id="14" creationId="{36EA5E82-8DF5-295E-B93D-BB88DA63C23C}"/>
          </ac:picMkLst>
        </pc:picChg>
        <pc:picChg chg="mod">
          <ac:chgData name="Zad Abou-Jaoude" userId="S::zad.abou-jaoude@etu.univ-smb.fr::c3f33ae0-34c3-43cb-b9bd-d8041c9be236" providerId="AD" clId="Web-{DCAF912C-C215-3B0B-D9C7-9EB18AAA9B27}" dt="2026-01-22T14:03:48.971" v="1" actId="1076"/>
          <ac:picMkLst>
            <pc:docMk/>
            <pc:sldMk cId="0" sldId="295"/>
            <ac:picMk id="18" creationId="{F755C60E-A39E-C7AA-1689-FB059B6ABE8B}"/>
          </ac:picMkLst>
        </pc:picChg>
        <pc:picChg chg="mod">
          <ac:chgData name="Zad Abou-Jaoude" userId="S::zad.abou-jaoude@etu.univ-smb.fr::c3f33ae0-34c3-43cb-b9bd-d8041c9be236" providerId="AD" clId="Web-{DCAF912C-C215-3B0B-D9C7-9EB18AAA9B27}" dt="2026-01-22T14:03:58.221" v="4" actId="1076"/>
          <ac:picMkLst>
            <pc:docMk/>
            <pc:sldMk cId="0" sldId="295"/>
            <ac:picMk id="20" creationId="{4FDB6273-C285-71ED-C7FF-247D0E75AC72}"/>
          </ac:picMkLst>
        </pc:picChg>
      </pc:sldChg>
    </pc:docChg>
  </pc:docChgLst>
</pc:chgInfo>
</file>

<file path=ppt/comments/modernComment_121_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313B07FF-5E7C-4F64-9115-A566774C126B}" authorId="{CC542680-FC06-7163-068E-FF439AEABF90}" created="2025-11-09T15:34:41.137">
    <pc:sldMkLst xmlns:pc="http://schemas.microsoft.com/office/powerpoint/2013/main/command">
      <pc:docMk/>
      <pc:sldMk cId="0" sldId="289"/>
    </pc:sldMkLst>
    <p188:replyLst>
      <p188:reply id="{7133D2CA-4407-4AB3-A58F-B7A292B1CDA4}" authorId="{CC542680-FC06-7163-068E-FF439AEABF90}" created="2025-11-09T15:38:33.888">
        <p188:txBody>
          <a:bodyPr/>
          <a:lstStyle/>
          <a:p>
            <a:r>
              <a:rPr lang="en-US"/>
              <a:t>This is extremely wordy don’t you think?</a:t>
            </a:r>
          </a:p>
        </p188:txBody>
      </p188:reply>
      <p188:reply id="{BF3F44A3-C32F-41FA-8B6E-6C5307FF739C}" authorId="{B0A3660C-66C1-DEE5-A6B5-C01CD5E5C58D}" created="2025-11-09T15:42:46.317">
        <p188:txBody>
          <a:bodyPr/>
          <a:lstStyle/>
          <a:p>
            <a:r>
              <a:rPr lang="en-US"/>
              <a:t>you mean for the Robot Design?</a:t>
            </a:r>
          </a:p>
        </p188:txBody>
      </p188:reply>
      <p188:reply id="{A9C08213-B854-4E0D-B96A-5D772540D3D8}" authorId="{CC542680-FC06-7163-068E-FF439AEABF90}" created="2025-11-09T15:44:58.962">
        <p188:txBody>
          <a:bodyPr/>
          <a:lstStyle/>
          <a:p>
            <a:r>
              <a:rPr lang="en-US"/>
              <a:t>Yeah check slide 10 there’s most of it there</a:t>
            </a:r>
          </a:p>
        </p188:txBody>
      </p188:reply>
      <p188:reply id="{A489A8B8-EBEB-4524-9E1F-6B9F66DDAA6C}" authorId="{B0A3660C-66C1-DEE5-A6B5-C01CD5E5C58D}" created="2025-11-09T15:48:27.522">
        <p188:txBody>
          <a:bodyPr/>
          <a:lstStyle/>
          <a:p>
            <a:r>
              <a:rPr lang="en-US"/>
              <a:t>oh, thanks, it is better to add that part.</a:t>
            </a:r>
          </a:p>
        </p188:txBody>
      </p188:reply>
      <p188:reply id="{13E01705-DCA8-4230-B586-AAA2615AC776}" authorId="{B0A3660C-66C1-DEE5-A6B5-C01CD5E5C58D}" created="2025-11-09T15:49:15.210">
        <p188:txBody>
          <a:bodyPr/>
          <a:lstStyle/>
          <a:p>
            <a:r>
              <a:rPr lang="en-US"/>
              <a:t>but i did not see any part for the safety consideration </a:t>
            </a:r>
          </a:p>
        </p188:txBody>
      </p188:reply>
      <p188:reply id="{5D9B4A02-AEC8-4B5E-800E-A15DF272C394}" authorId="{B0A3660C-66C1-DEE5-A6B5-C01CD5E5C58D}" created="2025-11-09T15:49:44.866">
        <p188:txBody>
          <a:bodyPr/>
          <a:lstStyle/>
          <a:p>
            <a:r>
              <a:rPr lang="en-US"/>
              <a:t>ok we will remove slide 6 and replaced it with slide 10</a:t>
            </a:r>
          </a:p>
        </p188:txBody>
      </p188:reply>
    </p188:replyLst>
    <p188:txBody>
      <a:bodyPr/>
      <a:lstStyle/>
      <a:p>
        <a:r>
          <a:rPr lang="en-US"/>
          <a:t>Hey man I think this might be redundant if we make it a diagram for the project management section</a:t>
        </a:r>
      </a:p>
    </p188:txBody>
  </p188:cm>
</p188:cmLst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68871CB-7D37-4FAB-B9ED-4377A4D8FB20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E8DA370-3937-44ED-9988-7642B6F3E4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43EEF79-99CC-4F81-B4D6-D8238D76DBFC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431925" y="1143000"/>
            <a:ext cx="399415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A0C5344-2AF1-4DB7-89C3-3B38D8B6B998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1018540" rtl="0" eaLnBrk="1" latinLnBrk="0" hangingPunct="1">
      <a:defRPr sz="1335" kern="1200">
        <a:solidFill>
          <a:schemeClr val="tx1"/>
        </a:solidFill>
        <a:latin typeface="+mn-lt"/>
        <a:ea typeface="+mn-ea"/>
        <a:cs typeface="+mn-cs"/>
      </a:defRPr>
    </a:lvl1pPr>
    <a:lvl2pPr marL="509270" algn="l" defTabSz="1018540" rtl="0" eaLnBrk="1" latinLnBrk="0" hangingPunct="1">
      <a:defRPr sz="1335" kern="1200">
        <a:solidFill>
          <a:schemeClr val="tx1"/>
        </a:solidFill>
        <a:latin typeface="+mn-lt"/>
        <a:ea typeface="+mn-ea"/>
        <a:cs typeface="+mn-cs"/>
      </a:defRPr>
    </a:lvl2pPr>
    <a:lvl3pPr marL="1018540" algn="l" defTabSz="1018540" rtl="0" eaLnBrk="1" latinLnBrk="0" hangingPunct="1">
      <a:defRPr sz="1335" kern="1200">
        <a:solidFill>
          <a:schemeClr val="tx1"/>
        </a:solidFill>
        <a:latin typeface="+mn-lt"/>
        <a:ea typeface="+mn-ea"/>
        <a:cs typeface="+mn-cs"/>
      </a:defRPr>
    </a:lvl3pPr>
    <a:lvl4pPr marL="1528445" algn="l" defTabSz="1018540" rtl="0" eaLnBrk="1" latinLnBrk="0" hangingPunct="1">
      <a:defRPr sz="1335" kern="1200">
        <a:solidFill>
          <a:schemeClr val="tx1"/>
        </a:solidFill>
        <a:latin typeface="+mn-lt"/>
        <a:ea typeface="+mn-ea"/>
        <a:cs typeface="+mn-cs"/>
      </a:defRPr>
    </a:lvl4pPr>
    <a:lvl5pPr marL="2037715" algn="l" defTabSz="1018540" rtl="0" eaLnBrk="1" latinLnBrk="0" hangingPunct="1">
      <a:defRPr sz="1335" kern="1200">
        <a:solidFill>
          <a:schemeClr val="tx1"/>
        </a:solidFill>
        <a:latin typeface="+mn-lt"/>
        <a:ea typeface="+mn-ea"/>
        <a:cs typeface="+mn-cs"/>
      </a:defRPr>
    </a:lvl5pPr>
    <a:lvl6pPr marL="2546985" algn="l" defTabSz="1018540" rtl="0" eaLnBrk="1" latinLnBrk="0" hangingPunct="1">
      <a:defRPr sz="1335" kern="1200">
        <a:solidFill>
          <a:schemeClr val="tx1"/>
        </a:solidFill>
        <a:latin typeface="+mn-lt"/>
        <a:ea typeface="+mn-ea"/>
        <a:cs typeface="+mn-cs"/>
      </a:defRPr>
    </a:lvl6pPr>
    <a:lvl7pPr marL="3056255" algn="l" defTabSz="1018540" rtl="0" eaLnBrk="1" latinLnBrk="0" hangingPunct="1">
      <a:defRPr sz="1335" kern="1200">
        <a:solidFill>
          <a:schemeClr val="tx1"/>
        </a:solidFill>
        <a:latin typeface="+mn-lt"/>
        <a:ea typeface="+mn-ea"/>
        <a:cs typeface="+mn-cs"/>
      </a:defRPr>
    </a:lvl7pPr>
    <a:lvl8pPr marL="3566160" algn="l" defTabSz="1018540" rtl="0" eaLnBrk="1" latinLnBrk="0" hangingPunct="1">
      <a:defRPr sz="1335" kern="1200">
        <a:solidFill>
          <a:schemeClr val="tx1"/>
        </a:solidFill>
        <a:latin typeface="+mn-lt"/>
        <a:ea typeface="+mn-ea"/>
        <a:cs typeface="+mn-cs"/>
      </a:defRPr>
    </a:lvl8pPr>
    <a:lvl9pPr marL="4075430" algn="l" defTabSz="1018540" rtl="0" eaLnBrk="1" latinLnBrk="0" hangingPunct="1">
      <a:defRPr sz="1335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0C5344-2AF1-4DB7-89C3-3B38D8B6B998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61836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/>
          <p:cNvSpPr>
            <a:spLocks noGrp="1"/>
          </p:cNvSpPr>
          <p:nvPr>
            <p:ph type="pic" sz="quarter" idx="13"/>
          </p:nvPr>
        </p:nvSpPr>
        <p:spPr>
          <a:xfrm>
            <a:off x="451703" y="1543006"/>
            <a:ext cx="6163056" cy="5815584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4" hasCustomPrompt="1"/>
          </p:nvPr>
        </p:nvSpPr>
        <p:spPr>
          <a:xfrm>
            <a:off x="6726238" y="1543006"/>
            <a:ext cx="3244850" cy="5815583"/>
          </a:xfrm>
        </p:spPr>
        <p:txBody>
          <a:bodyPr anchor="ctr">
            <a:normAutofit/>
          </a:bodyPr>
          <a:lstStyle>
            <a:lvl1pPr marL="0" indent="0">
              <a:buNone/>
              <a:defRPr sz="2400"/>
            </a:lvl1pPr>
            <a:lvl2pPr marL="377190" indent="0">
              <a:buNone/>
              <a:defRPr/>
            </a:lvl2pPr>
            <a:lvl3pPr marL="754380" indent="0">
              <a:buNone/>
              <a:defRPr/>
            </a:lvl3pPr>
            <a:lvl4pPr marL="1131570" indent="0">
              <a:buNone/>
              <a:defRPr/>
            </a:lvl4pPr>
            <a:lvl5pPr marL="1508760" indent="0">
              <a:buNone/>
              <a:defRPr/>
            </a:lvl5pPr>
          </a:lstStyle>
          <a:p>
            <a:pPr lvl="0"/>
            <a:r>
              <a:rPr lang="en-US"/>
              <a:t>Click to add text 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1703" y="154727"/>
            <a:ext cx="9154994" cy="1502305"/>
          </a:xfrm>
        </p:spPr>
        <p:txBody>
          <a:bodyPr>
            <a:normAutofit/>
          </a:bodyPr>
          <a:lstStyle>
            <a:lvl1pPr algn="ctr">
              <a:defRPr sz="48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2EBECA-3212-4A5B-B9AF-C03EDE72AD91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B7BE8F-0DAB-48BB-B5ED-43D873A94FC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/>
          <p:cNvSpPr>
            <a:spLocks noGrp="1" noChangeAspect="1"/>
          </p:cNvSpPr>
          <p:nvPr>
            <p:ph type="pic" sz="quarter" idx="13"/>
          </p:nvPr>
        </p:nvSpPr>
        <p:spPr>
          <a:xfrm>
            <a:off x="150876" y="116586"/>
            <a:ext cx="9756648" cy="7539228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0876" y="116587"/>
            <a:ext cx="9756648" cy="768604"/>
          </a:xfrm>
        </p:spPr>
        <p:txBody>
          <a:bodyPr anchor="t">
            <a:normAutofit/>
          </a:bodyPr>
          <a:lstStyle>
            <a:lvl1pPr algn="ctr">
              <a:defRPr sz="198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2EBECA-3212-4A5B-B9AF-C03EDE72AD91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B7BE8F-0DAB-48BB-B5ED-43D873A94FC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4">
            <a:lum/>
          </a:blip>
          <a:srcRect/>
          <a:stretch>
            <a:fillRect l="-11000" r="-1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91515" y="413810"/>
            <a:ext cx="8675370" cy="150230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91515" y="2069042"/>
            <a:ext cx="8675370" cy="49315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91515" y="7203865"/>
            <a:ext cx="2263140" cy="4138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9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32EBECA-3212-4A5B-B9AF-C03EDE72AD91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331845" y="7203865"/>
            <a:ext cx="3394710" cy="4138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9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103745" y="7203865"/>
            <a:ext cx="2263140" cy="4138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9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B7BE8F-0DAB-48BB-B5ED-43D873A94FC9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 defTabSz="754380" rtl="0" eaLnBrk="1" latinLnBrk="0" hangingPunct="1">
        <a:lnSpc>
          <a:spcPct val="90000"/>
        </a:lnSpc>
        <a:spcBef>
          <a:spcPct val="0"/>
        </a:spcBef>
        <a:buNone/>
        <a:defRPr sz="363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8595" indent="-188595" algn="l" defTabSz="754380" rtl="0" eaLnBrk="1" latinLnBrk="0" hangingPunct="1">
        <a:lnSpc>
          <a:spcPct val="90000"/>
        </a:lnSpc>
        <a:spcBef>
          <a:spcPts val="825"/>
        </a:spcBef>
        <a:buFont typeface="Arial" panose="020B0604020202020204" pitchFamily="34" charset="0"/>
        <a:buChar char="•"/>
        <a:defRPr sz="2310" kern="1200">
          <a:solidFill>
            <a:schemeClr val="tx1"/>
          </a:solidFill>
          <a:latin typeface="+mn-lt"/>
          <a:ea typeface="+mn-ea"/>
          <a:cs typeface="+mn-cs"/>
        </a:defRPr>
      </a:lvl1pPr>
      <a:lvl2pPr marL="565785" indent="-188595" algn="l" defTabSz="754380" rtl="0" eaLnBrk="1" latinLnBrk="0" hangingPunct="1">
        <a:lnSpc>
          <a:spcPct val="90000"/>
        </a:lnSpc>
        <a:spcBef>
          <a:spcPts val="415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2pPr>
      <a:lvl3pPr marL="942975" indent="-188595" algn="l" defTabSz="754380" rtl="0" eaLnBrk="1" latinLnBrk="0" hangingPunct="1">
        <a:lnSpc>
          <a:spcPct val="90000"/>
        </a:lnSpc>
        <a:spcBef>
          <a:spcPts val="415"/>
        </a:spcBef>
        <a:buFont typeface="Arial" panose="020B0604020202020204" pitchFamily="34" charset="0"/>
        <a:buChar char="•"/>
        <a:defRPr sz="1650" kern="1200">
          <a:solidFill>
            <a:schemeClr val="tx1"/>
          </a:solidFill>
          <a:latin typeface="+mn-lt"/>
          <a:ea typeface="+mn-ea"/>
          <a:cs typeface="+mn-cs"/>
        </a:defRPr>
      </a:lvl3pPr>
      <a:lvl4pPr marL="1320165" indent="-188595" algn="l" defTabSz="754380" rtl="0" eaLnBrk="1" latinLnBrk="0" hangingPunct="1">
        <a:lnSpc>
          <a:spcPct val="90000"/>
        </a:lnSpc>
        <a:spcBef>
          <a:spcPts val="415"/>
        </a:spcBef>
        <a:buFont typeface="Arial" panose="020B0604020202020204" pitchFamily="34" charset="0"/>
        <a:buChar char="•"/>
        <a:defRPr sz="1485" kern="1200">
          <a:solidFill>
            <a:schemeClr val="tx1"/>
          </a:solidFill>
          <a:latin typeface="+mn-lt"/>
          <a:ea typeface="+mn-ea"/>
          <a:cs typeface="+mn-cs"/>
        </a:defRPr>
      </a:lvl4pPr>
      <a:lvl5pPr marL="1697355" indent="-188595" algn="l" defTabSz="754380" rtl="0" eaLnBrk="1" latinLnBrk="0" hangingPunct="1">
        <a:lnSpc>
          <a:spcPct val="90000"/>
        </a:lnSpc>
        <a:spcBef>
          <a:spcPts val="415"/>
        </a:spcBef>
        <a:buFont typeface="Arial" panose="020B0604020202020204" pitchFamily="34" charset="0"/>
        <a:buChar char="•"/>
        <a:defRPr sz="1485" kern="1200">
          <a:solidFill>
            <a:schemeClr val="tx1"/>
          </a:solidFill>
          <a:latin typeface="+mn-lt"/>
          <a:ea typeface="+mn-ea"/>
          <a:cs typeface="+mn-cs"/>
        </a:defRPr>
      </a:lvl5pPr>
      <a:lvl6pPr marL="2074545" indent="-188595" algn="l" defTabSz="754380" rtl="0" eaLnBrk="1" latinLnBrk="0" hangingPunct="1">
        <a:lnSpc>
          <a:spcPct val="90000"/>
        </a:lnSpc>
        <a:spcBef>
          <a:spcPts val="415"/>
        </a:spcBef>
        <a:buFont typeface="Arial" panose="020B0604020202020204" pitchFamily="34" charset="0"/>
        <a:buChar char="•"/>
        <a:defRPr sz="1485" kern="1200">
          <a:solidFill>
            <a:schemeClr val="tx1"/>
          </a:solidFill>
          <a:latin typeface="+mn-lt"/>
          <a:ea typeface="+mn-ea"/>
          <a:cs typeface="+mn-cs"/>
        </a:defRPr>
      </a:lvl6pPr>
      <a:lvl7pPr marL="2451735" indent="-188595" algn="l" defTabSz="754380" rtl="0" eaLnBrk="1" latinLnBrk="0" hangingPunct="1">
        <a:lnSpc>
          <a:spcPct val="90000"/>
        </a:lnSpc>
        <a:spcBef>
          <a:spcPts val="415"/>
        </a:spcBef>
        <a:buFont typeface="Arial" panose="020B0604020202020204" pitchFamily="34" charset="0"/>
        <a:buChar char="•"/>
        <a:defRPr sz="1485" kern="1200">
          <a:solidFill>
            <a:schemeClr val="tx1"/>
          </a:solidFill>
          <a:latin typeface="+mn-lt"/>
          <a:ea typeface="+mn-ea"/>
          <a:cs typeface="+mn-cs"/>
        </a:defRPr>
      </a:lvl7pPr>
      <a:lvl8pPr marL="2828925" indent="-188595" algn="l" defTabSz="754380" rtl="0" eaLnBrk="1" latinLnBrk="0" hangingPunct="1">
        <a:lnSpc>
          <a:spcPct val="90000"/>
        </a:lnSpc>
        <a:spcBef>
          <a:spcPts val="415"/>
        </a:spcBef>
        <a:buFont typeface="Arial" panose="020B0604020202020204" pitchFamily="34" charset="0"/>
        <a:buChar char="•"/>
        <a:defRPr sz="1485" kern="1200">
          <a:solidFill>
            <a:schemeClr val="tx1"/>
          </a:solidFill>
          <a:latin typeface="+mn-lt"/>
          <a:ea typeface="+mn-ea"/>
          <a:cs typeface="+mn-cs"/>
        </a:defRPr>
      </a:lvl8pPr>
      <a:lvl9pPr marL="3206115" indent="-188595" algn="l" defTabSz="754380" rtl="0" eaLnBrk="1" latinLnBrk="0" hangingPunct="1">
        <a:lnSpc>
          <a:spcPct val="90000"/>
        </a:lnSpc>
        <a:spcBef>
          <a:spcPts val="415"/>
        </a:spcBef>
        <a:buFont typeface="Arial" panose="020B0604020202020204" pitchFamily="34" charset="0"/>
        <a:buChar char="•"/>
        <a:defRPr sz="148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54380" rtl="0" eaLnBrk="1" latinLnBrk="0" hangingPunct="1">
        <a:defRPr sz="1485" kern="1200">
          <a:solidFill>
            <a:schemeClr val="tx1"/>
          </a:solidFill>
          <a:latin typeface="+mn-lt"/>
          <a:ea typeface="+mn-ea"/>
          <a:cs typeface="+mn-cs"/>
        </a:defRPr>
      </a:lvl1pPr>
      <a:lvl2pPr marL="377190" algn="l" defTabSz="754380" rtl="0" eaLnBrk="1" latinLnBrk="0" hangingPunct="1">
        <a:defRPr sz="1485" kern="1200">
          <a:solidFill>
            <a:schemeClr val="tx1"/>
          </a:solidFill>
          <a:latin typeface="+mn-lt"/>
          <a:ea typeface="+mn-ea"/>
          <a:cs typeface="+mn-cs"/>
        </a:defRPr>
      </a:lvl2pPr>
      <a:lvl3pPr marL="754380" algn="l" defTabSz="754380" rtl="0" eaLnBrk="1" latinLnBrk="0" hangingPunct="1">
        <a:defRPr sz="1485" kern="1200">
          <a:solidFill>
            <a:schemeClr val="tx1"/>
          </a:solidFill>
          <a:latin typeface="+mn-lt"/>
          <a:ea typeface="+mn-ea"/>
          <a:cs typeface="+mn-cs"/>
        </a:defRPr>
      </a:lvl3pPr>
      <a:lvl4pPr marL="1131570" algn="l" defTabSz="754380" rtl="0" eaLnBrk="1" latinLnBrk="0" hangingPunct="1">
        <a:defRPr sz="1485" kern="1200">
          <a:solidFill>
            <a:schemeClr val="tx1"/>
          </a:solidFill>
          <a:latin typeface="+mn-lt"/>
          <a:ea typeface="+mn-ea"/>
          <a:cs typeface="+mn-cs"/>
        </a:defRPr>
      </a:lvl4pPr>
      <a:lvl5pPr marL="1508760" algn="l" defTabSz="754380" rtl="0" eaLnBrk="1" latinLnBrk="0" hangingPunct="1">
        <a:defRPr sz="1485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algn="l" defTabSz="754380" rtl="0" eaLnBrk="1" latinLnBrk="0" hangingPunct="1">
        <a:defRPr sz="1485" kern="1200">
          <a:solidFill>
            <a:schemeClr val="tx1"/>
          </a:solidFill>
          <a:latin typeface="+mn-lt"/>
          <a:ea typeface="+mn-ea"/>
          <a:cs typeface="+mn-cs"/>
        </a:defRPr>
      </a:lvl6pPr>
      <a:lvl7pPr marL="2263140" algn="l" defTabSz="754380" rtl="0" eaLnBrk="1" latinLnBrk="0" hangingPunct="1">
        <a:defRPr sz="1485" kern="1200">
          <a:solidFill>
            <a:schemeClr val="tx1"/>
          </a:solidFill>
          <a:latin typeface="+mn-lt"/>
          <a:ea typeface="+mn-ea"/>
          <a:cs typeface="+mn-cs"/>
        </a:defRPr>
      </a:lvl7pPr>
      <a:lvl8pPr marL="2640330" algn="l" defTabSz="754380" rtl="0" eaLnBrk="1" latinLnBrk="0" hangingPunct="1">
        <a:defRPr sz="1485" kern="1200">
          <a:solidFill>
            <a:schemeClr val="tx1"/>
          </a:solidFill>
          <a:latin typeface="+mn-lt"/>
          <a:ea typeface="+mn-ea"/>
          <a:cs typeface="+mn-cs"/>
        </a:defRPr>
      </a:lvl8pPr>
      <a:lvl9pPr marL="3017520" algn="l" defTabSz="754380" rtl="0" eaLnBrk="1" latinLnBrk="0" hangingPunct="1">
        <a:defRPr sz="148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microsoft.com/office/2017/06/relationships/model3d" Target="../media/model3d1.glb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microsoft.com/office/2018/10/relationships/comments" Target="../comments/modernComment_121_0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Cover Page</a:t>
            </a:r>
          </a:p>
        </p:txBody>
      </p:sp>
      <p:sp>
        <p:nvSpPr>
          <p:cNvPr id="8" name="Title 1"/>
          <p:cNvSpPr txBox="1"/>
          <p:nvPr/>
        </p:nvSpPr>
        <p:spPr>
          <a:xfrm>
            <a:off x="136051" y="5114897"/>
            <a:ext cx="9752866" cy="93458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ctr" defTabSz="75438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75000"/>
              </a:lnSpc>
            </a:pPr>
            <a:r>
              <a:rPr lang="en-US" b="1">
                <a:ln w="41275">
                  <a:noFill/>
                </a:ln>
                <a:solidFill>
                  <a:srgbClr val="0070C0"/>
                </a:solidFill>
                <a:latin typeface="Times New Roman" panose="02020603050405020304"/>
                <a:cs typeface="Times New Roman" panose="02020603050405020304"/>
              </a:rPr>
              <a:t>By</a:t>
            </a:r>
          </a:p>
          <a:p>
            <a:pPr>
              <a:lnSpc>
                <a:spcPct val="75000"/>
              </a:lnSpc>
            </a:pPr>
            <a:r>
              <a:rPr lang="en-US" b="1">
                <a:ln w="41275">
                  <a:noFill/>
                </a:ln>
                <a:solidFill>
                  <a:srgbClr val="0070C0"/>
                </a:solidFill>
                <a:latin typeface="Times New Roman" panose="02020603050405020304"/>
                <a:cs typeface="Times New Roman" panose="02020603050405020304"/>
              </a:rPr>
              <a:t>ROBO-UN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7159491"/>
            <a:ext cx="10051483" cy="610106"/>
          </a:xfrm>
          <a:prstGeom prst="rect">
            <a:avLst/>
          </a:prstGeom>
          <a:solidFill>
            <a:srgbClr val="0070C0"/>
          </a:solidFill>
          <a:ln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endParaRPr lang="en-US" sz="2000">
              <a:solidFill>
                <a:schemeClr val="bg1"/>
              </a:solidFill>
              <a:ea typeface="Source Sans Pro"/>
            </a:endParaRPr>
          </a:p>
        </p:txBody>
      </p:sp>
      <p:pic>
        <p:nvPicPr>
          <p:cNvPr id="26" name="Picture 2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970" y="153837"/>
            <a:ext cx="2267912" cy="767752"/>
          </a:xfrm>
          <a:prstGeom prst="rect">
            <a:avLst/>
          </a:prstGeom>
        </p:spPr>
      </p:pic>
      <p:pic>
        <p:nvPicPr>
          <p:cNvPr id="32" name="Picture 3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92795" y="137544"/>
            <a:ext cx="2662458" cy="767751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27942" y="1108662"/>
            <a:ext cx="3230768" cy="39878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000" b="1" dirty="0">
                <a:solidFill>
                  <a:srgbClr val="0070C0"/>
                </a:solidFill>
                <a:ea typeface="Source Sans Pro"/>
              </a:rPr>
              <a:t>Monday, 10 Nov 2025</a:t>
            </a:r>
          </a:p>
        </p:txBody>
      </p:sp>
      <p:sp>
        <p:nvSpPr>
          <p:cNvPr id="5" name="Rectangle 4"/>
          <p:cNvSpPr/>
          <p:nvPr/>
        </p:nvSpPr>
        <p:spPr>
          <a:xfrm>
            <a:off x="11279" y="2677126"/>
            <a:ext cx="10063379" cy="1633543"/>
          </a:xfrm>
          <a:prstGeom prst="rect">
            <a:avLst/>
          </a:prstGeom>
          <a:solidFill>
            <a:srgbClr val="0070C0"/>
          </a:solidFill>
          <a:ln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>
                <a:solidFill>
                  <a:schemeClr val="bg1"/>
                </a:solidFill>
                <a:latin typeface="Times New Roman" panose="02020603050405020304"/>
                <a:ea typeface="Source Sans Pro"/>
                <a:cs typeface="Times New Roman" panose="02020603050405020304"/>
              </a:rPr>
              <a:t>PROJ703/ PROJ903 International Challenge Project “</a:t>
            </a:r>
            <a:r>
              <a:rPr lang="en-US" sz="4000" err="1">
                <a:solidFill>
                  <a:schemeClr val="bg1"/>
                </a:solidFill>
                <a:latin typeface="Times New Roman" panose="02020603050405020304"/>
                <a:ea typeface="Source Sans Pro"/>
                <a:cs typeface="Times New Roman" panose="02020603050405020304"/>
              </a:rPr>
              <a:t>Eurobot</a:t>
            </a:r>
            <a:r>
              <a:rPr lang="en-US" sz="4000">
                <a:solidFill>
                  <a:schemeClr val="bg1"/>
                </a:solidFill>
                <a:latin typeface="Times New Roman" panose="02020603050405020304"/>
                <a:ea typeface="Source Sans Pro"/>
                <a:cs typeface="Times New Roman" panose="02020603050405020304"/>
              </a:rPr>
              <a:t>”</a:t>
            </a:r>
          </a:p>
          <a:p>
            <a:pPr algn="ctr"/>
            <a:endParaRPr lang="en-US" sz="2000">
              <a:ea typeface="Source Sans Pro"/>
            </a:endParaRPr>
          </a:p>
        </p:txBody>
      </p:sp>
      <p:pic>
        <p:nvPicPr>
          <p:cNvPr id="7" name="Picture 6" descr="A blue and white logo&#10;&#10;AI-generated content may be incorrect.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30906" y="834216"/>
            <a:ext cx="1875341" cy="165561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7159491"/>
            <a:ext cx="10051483" cy="610106"/>
          </a:xfrm>
          <a:prstGeom prst="rect">
            <a:avLst/>
          </a:prstGeom>
          <a:solidFill>
            <a:srgbClr val="0070C0"/>
          </a:solidFill>
          <a:ln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000" b="1">
                <a:solidFill>
                  <a:srgbClr val="FFFFFF"/>
                </a:solidFill>
                <a:latin typeface="Times New Roman" panose="02020603050405020304"/>
              </a:rPr>
              <a:t>                                      </a:t>
            </a:r>
            <a:r>
              <a:rPr lang="en-US" sz="2000" b="1" baseline="0">
                <a:solidFill>
                  <a:srgbClr val="FFFFFF"/>
                </a:solidFill>
                <a:latin typeface="Times New Roman" panose="02020603050405020304"/>
              </a:rPr>
              <a:t>Page - </a:t>
            </a:r>
            <a:r>
              <a:rPr lang="en-US" sz="2000" b="1">
                <a:solidFill>
                  <a:srgbClr val="FFFFFF"/>
                </a:solidFill>
                <a:latin typeface="Times New Roman" panose="02020603050405020304"/>
              </a:rPr>
              <a:t>02</a:t>
            </a:r>
            <a:endParaRPr lang="en-US" sz="2000">
              <a:latin typeface="Times New Roman" panose="02020603050405020304"/>
              <a:ea typeface="Source Sans Pro"/>
              <a:cs typeface="Times New Roman" panose="02020603050405020304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10051483" cy="870815"/>
          </a:xfrm>
          <a:prstGeom prst="rect">
            <a:avLst/>
          </a:prstGeom>
          <a:solidFill>
            <a:srgbClr val="0070C0"/>
          </a:solidFill>
          <a:ln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800" b="1">
                <a:solidFill>
                  <a:schemeClr val="bg1"/>
                </a:solidFill>
                <a:latin typeface="Times New Roman" panose="02020603050405020304"/>
                <a:ea typeface="Source Sans Pro"/>
                <a:cs typeface="Times New Roman" panose="02020603050405020304"/>
              </a:rPr>
              <a:t>SUMMARY</a:t>
            </a:r>
          </a:p>
        </p:txBody>
      </p:sp>
      <p:sp>
        <p:nvSpPr>
          <p:cNvPr id="2" name="Rectangle 1"/>
          <p:cNvSpPr/>
          <p:nvPr/>
        </p:nvSpPr>
        <p:spPr>
          <a:xfrm>
            <a:off x="929220" y="1380010"/>
            <a:ext cx="8193042" cy="5270286"/>
          </a:xfrm>
          <a:prstGeom prst="rect">
            <a:avLst/>
          </a:prstGeom>
          <a:solidFill>
            <a:srgbClr val="0070C0"/>
          </a:solidFill>
          <a:ln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4000" b="1" dirty="0">
                <a:latin typeface="Times New Roman" panose="02020603050405020304"/>
                <a:ea typeface="Source Sans Pro"/>
                <a:cs typeface="Times New Roman" panose="02020603050405020304"/>
              </a:rPr>
              <a:t>Progress Report -01</a:t>
            </a:r>
          </a:p>
          <a:p>
            <a:pPr algn="ctr"/>
            <a:r>
              <a:rPr lang="en-US" sz="4000" b="1" dirty="0">
                <a:latin typeface="Times New Roman" panose="02020603050405020304"/>
                <a:ea typeface="Source Sans Pro"/>
                <a:cs typeface="Times New Roman" panose="02020603050405020304"/>
              </a:rPr>
              <a:t>Simulation -0</a:t>
            </a:r>
          </a:p>
          <a:p>
            <a:pPr algn="ctr"/>
            <a:r>
              <a:rPr lang="en-US" sz="4000" b="1" dirty="0">
                <a:latin typeface="Times New Roman" panose="02020603050405020304"/>
                <a:ea typeface="Source Sans Pro"/>
                <a:cs typeface="Times New Roman" panose="02020603050405020304"/>
              </a:rPr>
              <a:t>Design -05</a:t>
            </a:r>
          </a:p>
          <a:p>
            <a:pPr algn="ctr"/>
            <a:r>
              <a:rPr lang="en-US" sz="4000" b="1" dirty="0">
                <a:latin typeface="Times New Roman" panose="02020603050405020304"/>
                <a:ea typeface="Source Sans Pro"/>
                <a:cs typeface="Times New Roman" panose="02020603050405020304"/>
              </a:rPr>
              <a:t>Strategies -06</a:t>
            </a:r>
          </a:p>
          <a:p>
            <a:pPr algn="ctr"/>
            <a:r>
              <a:rPr lang="en-US" sz="4000" b="1" dirty="0">
                <a:solidFill>
                  <a:schemeClr val="bg1"/>
                </a:solidFill>
                <a:latin typeface="Times New Roman" panose="02020603050405020304"/>
                <a:ea typeface="Source Sans Pro"/>
                <a:cs typeface="Times New Roman" panose="02020603050405020304"/>
              </a:rPr>
              <a:t>Robot Requirements -07</a:t>
            </a:r>
          </a:p>
          <a:p>
            <a:pPr algn="ctr"/>
            <a:r>
              <a:rPr lang="en-US" sz="4000" b="1" dirty="0">
                <a:latin typeface="Times New Roman" panose="02020603050405020304"/>
                <a:ea typeface="Source Sans Pro"/>
                <a:cs typeface="Times New Roman" panose="02020603050405020304"/>
              </a:rPr>
              <a:t>Project Management -08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7159491"/>
            <a:ext cx="10051483" cy="610106"/>
          </a:xfrm>
          <a:prstGeom prst="rect">
            <a:avLst/>
          </a:prstGeom>
          <a:solidFill>
            <a:srgbClr val="0070C0"/>
          </a:solidFill>
          <a:ln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000" b="1">
                <a:solidFill>
                  <a:srgbClr val="FFFFFF"/>
                </a:solidFill>
                <a:latin typeface="Times New Roman" panose="02020603050405020304"/>
              </a:rPr>
              <a:t>                                      </a:t>
            </a:r>
            <a:r>
              <a:rPr lang="en-US" sz="2000" b="1" baseline="0">
                <a:solidFill>
                  <a:srgbClr val="FFFFFF"/>
                </a:solidFill>
                <a:latin typeface="Times New Roman" panose="02020603050405020304"/>
              </a:rPr>
              <a:t>Page - </a:t>
            </a:r>
            <a:r>
              <a:rPr lang="en-US" sz="2000" b="1">
                <a:solidFill>
                  <a:srgbClr val="FFFFFF"/>
                </a:solidFill>
                <a:latin typeface="Times New Roman" panose="02020603050405020304"/>
              </a:rPr>
              <a:t>03</a:t>
            </a:r>
            <a:endParaRPr lang="en-US" sz="2000">
              <a:latin typeface="Times New Roman" panose="02020603050405020304"/>
              <a:ea typeface="Source Sans Pro"/>
              <a:cs typeface="Times New Roman" panose="02020603050405020304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681" y="-4267"/>
            <a:ext cx="10051483" cy="870815"/>
          </a:xfrm>
          <a:prstGeom prst="rect">
            <a:avLst/>
          </a:prstGeom>
          <a:solidFill>
            <a:srgbClr val="0070C0"/>
          </a:solidFill>
          <a:ln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800" b="1">
                <a:solidFill>
                  <a:schemeClr val="bg1"/>
                </a:solidFill>
                <a:latin typeface="Times New Roman" panose="02020603050405020304"/>
                <a:ea typeface="Source Sans Pro"/>
                <a:cs typeface="Times New Roman" panose="02020603050405020304"/>
              </a:rPr>
              <a:t>PROGRESS REPORT</a:t>
            </a:r>
          </a:p>
        </p:txBody>
      </p:sp>
      <p:sp>
        <p:nvSpPr>
          <p:cNvPr id="3" name="TextBox 1"/>
          <p:cNvSpPr txBox="1"/>
          <p:nvPr/>
        </p:nvSpPr>
        <p:spPr>
          <a:xfrm>
            <a:off x="650322" y="1810136"/>
            <a:ext cx="8750838" cy="4524315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spAutoFit/>
          </a:bodyPr>
          <a:lstStyle>
            <a:defPPr>
              <a:defRPr lang="en-US"/>
            </a:defPPr>
            <a:lvl1pPr marL="0" algn="l" defTabSz="1018540" rtl="0" eaLnBrk="1" latinLnBrk="0" hangingPunct="1">
              <a:defRPr sz="20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9270" algn="l" defTabSz="1018540" rtl="0" eaLnBrk="1" latinLnBrk="0" hangingPunct="1">
              <a:defRPr sz="20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18540" algn="l" defTabSz="1018540" rtl="0" eaLnBrk="1" latinLnBrk="0" hangingPunct="1">
              <a:defRPr sz="20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28445" algn="l" defTabSz="1018540" rtl="0" eaLnBrk="1" latinLnBrk="0" hangingPunct="1">
              <a:defRPr sz="20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37715" algn="l" defTabSz="1018540" rtl="0" eaLnBrk="1" latinLnBrk="0" hangingPunct="1">
              <a:defRPr sz="20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46985" algn="l" defTabSz="1018540" rtl="0" eaLnBrk="1" latinLnBrk="0" hangingPunct="1">
              <a:defRPr sz="20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56255" algn="l" defTabSz="1018540" rtl="0" eaLnBrk="1" latinLnBrk="0" hangingPunct="1">
              <a:defRPr sz="20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566160" algn="l" defTabSz="1018540" rtl="0" eaLnBrk="1" latinLnBrk="0" hangingPunct="1">
              <a:defRPr sz="20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075430" algn="l" defTabSz="1018540" rtl="0" eaLnBrk="1" latinLnBrk="0" hangingPunct="1">
              <a:defRPr sz="20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Font typeface="Arial" panose="020B0604020202020204"/>
              <a:buChar char="•"/>
            </a:pPr>
            <a:r>
              <a:rPr lang="en-US" sz="2400" b="1" dirty="0">
                <a:latin typeface="Times New Roman" panose="02020603050405020304"/>
                <a:ea typeface="Source Sans Pro"/>
                <a:cs typeface="Times New Roman" panose="02020603050405020304"/>
              </a:rPr>
              <a:t>What we have done:</a:t>
            </a:r>
            <a:endParaRPr lang="en-US" dirty="0">
              <a:ea typeface="Source Sans Pro"/>
            </a:endParaRPr>
          </a:p>
          <a:p>
            <a:pPr marL="852170" lvl="1" indent="-342900">
              <a:buFont typeface="Arial" panose="020B0604020202020204"/>
              <a:buChar char="•"/>
            </a:pPr>
            <a:r>
              <a:rPr lang="en-US" sz="2400" b="1" dirty="0">
                <a:latin typeface="Times New Roman" panose="02020603050405020304"/>
                <a:ea typeface="Source Sans Pro"/>
                <a:cs typeface="Times New Roman" panose="02020603050405020304"/>
              </a:rPr>
              <a:t>Simulation:</a:t>
            </a:r>
            <a:r>
              <a:rPr lang="en-US" sz="2400" dirty="0">
                <a:latin typeface="Times New Roman" panose="02020603050405020304"/>
                <a:ea typeface="Source Sans Pro"/>
                <a:cs typeface="Times New Roman" panose="02020603050405020304"/>
              </a:rPr>
              <a:t> add of borders beacons, lidar sensor, eagle view camera</a:t>
            </a:r>
          </a:p>
          <a:p>
            <a:pPr marL="852170" lvl="1" indent="-342900">
              <a:buFont typeface="Arial" panose="020B0604020202020204"/>
              <a:buChar char="•"/>
            </a:pPr>
            <a:r>
              <a:rPr lang="en-US" sz="2400" b="1" dirty="0">
                <a:latin typeface="Times New Roman" panose="02020603050405020304"/>
                <a:ea typeface="Source Sans Pro"/>
                <a:cs typeface="Times New Roman" panose="02020603050405020304"/>
              </a:rPr>
              <a:t>Design: </a:t>
            </a:r>
            <a:r>
              <a:rPr lang="en-US" sz="2400" dirty="0">
                <a:latin typeface="Times New Roman" panose="02020603050405020304"/>
                <a:ea typeface="Source Sans Pro"/>
                <a:cs typeface="Times New Roman" panose="02020603050405020304"/>
              </a:rPr>
              <a:t>Beacon support and Refining the CAD Model</a:t>
            </a:r>
            <a:endParaRPr lang="en-US" dirty="0"/>
          </a:p>
          <a:p>
            <a:pPr marL="852170" lvl="1" indent="-342900">
              <a:buFont typeface="Arial" panose="020B0604020202020204"/>
              <a:buChar char="•"/>
            </a:pPr>
            <a:r>
              <a:rPr lang="en-US" sz="2400" b="1" dirty="0">
                <a:latin typeface="Times New Roman" panose="02020603050405020304"/>
                <a:ea typeface="Source Sans Pro"/>
                <a:cs typeface="Times New Roman" panose="02020603050405020304"/>
              </a:rPr>
              <a:t>Strategies: </a:t>
            </a:r>
            <a:r>
              <a:rPr lang="en-US" sz="2400" dirty="0">
                <a:latin typeface="Times New Roman"/>
                <a:ea typeface="Source Sans Pro"/>
                <a:cs typeface="Times New Roman" panose="02020603050405020304"/>
              </a:rPr>
              <a:t>Flowchart improvements, parallel routines.</a:t>
            </a:r>
          </a:p>
          <a:p>
            <a:pPr marL="852170" lvl="1" indent="-342900">
              <a:buFont typeface="Arial" panose="020B0604020202020204"/>
              <a:buChar char="•"/>
            </a:pPr>
            <a:r>
              <a:rPr lang="en-US" sz="2400" b="1" dirty="0">
                <a:latin typeface="Times New Roman"/>
                <a:ea typeface="Source Sans Pro"/>
                <a:cs typeface="Times New Roman" panose="02020603050405020304"/>
              </a:rPr>
              <a:t>Components: </a:t>
            </a:r>
            <a:r>
              <a:rPr lang="en-US" sz="2400" dirty="0">
                <a:latin typeface="Times New Roman"/>
                <a:ea typeface="Source Sans Pro"/>
                <a:cs typeface="Times New Roman" panose="02020603050405020304"/>
              </a:rPr>
              <a:t>BOM is finalized</a:t>
            </a:r>
            <a:endParaRPr lang="en-US" dirty="0"/>
          </a:p>
          <a:p>
            <a:pPr marL="342900" indent="-342900">
              <a:buFont typeface="Arial" panose="020B0604020202020204"/>
              <a:buChar char="•"/>
            </a:pPr>
            <a:r>
              <a:rPr lang="en-US" sz="2400" b="1" dirty="0">
                <a:latin typeface="Times New Roman"/>
                <a:ea typeface="Source Sans Pro"/>
                <a:cs typeface="Times New Roman" panose="02020603050405020304"/>
              </a:rPr>
              <a:t>What we have to do for next session:</a:t>
            </a:r>
            <a:endParaRPr lang="en-US" dirty="0"/>
          </a:p>
          <a:p>
            <a:pPr marL="852170" lvl="1" indent="-342900">
              <a:buFont typeface="Arial" panose="020B0604020202020204"/>
              <a:buChar char="•"/>
            </a:pPr>
            <a:r>
              <a:rPr lang="en-US" sz="2400" b="1" dirty="0">
                <a:latin typeface="Times New Roman" panose="02020603050405020304"/>
                <a:ea typeface="Source Sans Pro"/>
                <a:cs typeface="Times New Roman" panose="02020603050405020304"/>
              </a:rPr>
              <a:t>Simulation: </a:t>
            </a:r>
            <a:r>
              <a:rPr lang="en-US" sz="2400" dirty="0">
                <a:latin typeface="Times New Roman" panose="02020603050405020304"/>
                <a:ea typeface="Source Sans Pro"/>
                <a:cs typeface="Times New Roman" panose="02020603050405020304"/>
              </a:rPr>
              <a:t>finish the </a:t>
            </a:r>
            <a:r>
              <a:rPr lang="en-US" sz="2400" dirty="0" err="1">
                <a:latin typeface="Times New Roman" panose="02020603050405020304"/>
                <a:ea typeface="Source Sans Pro"/>
                <a:cs typeface="Times New Roman" panose="02020603050405020304"/>
              </a:rPr>
              <a:t>arUco</a:t>
            </a:r>
            <a:r>
              <a:rPr lang="en-US" sz="2400" dirty="0">
                <a:latin typeface="Times New Roman"/>
                <a:ea typeface="Source Sans Pro"/>
                <a:cs typeface="Times New Roman" panose="02020603050405020304"/>
              </a:rPr>
              <a:t> </a:t>
            </a:r>
            <a:r>
              <a:rPr lang="en-US" sz="2400" dirty="0" err="1">
                <a:latin typeface="Times New Roman"/>
                <a:ea typeface="Source Sans Pro"/>
                <a:cs typeface="Times New Roman" panose="02020603050405020304"/>
              </a:rPr>
              <a:t>recongnetion</a:t>
            </a:r>
            <a:r>
              <a:rPr lang="en-US" sz="2400" dirty="0">
                <a:latin typeface="Times New Roman"/>
                <a:ea typeface="Source Sans Pro"/>
                <a:cs typeface="Times New Roman" panose="02020603050405020304"/>
              </a:rPr>
              <a:t>, and move the robot to defined point by avoiding obstacles</a:t>
            </a:r>
          </a:p>
          <a:p>
            <a:pPr marL="852170" lvl="1" indent="-342900">
              <a:buFont typeface="Arial" panose="020B0604020202020204"/>
              <a:buChar char="•"/>
            </a:pPr>
            <a:r>
              <a:rPr lang="en-US" sz="2400" b="1" dirty="0">
                <a:latin typeface="Times New Roman" panose="02020603050405020304"/>
                <a:ea typeface="Source Sans Pro"/>
                <a:cs typeface="Times New Roman" panose="02020603050405020304"/>
              </a:rPr>
              <a:t>Design: </a:t>
            </a:r>
            <a:r>
              <a:rPr lang="en-US" sz="2400" dirty="0">
                <a:latin typeface="Times New Roman" panose="02020603050405020304"/>
                <a:ea typeface="Source Sans Pro"/>
                <a:cs typeface="Times New Roman" panose="02020603050405020304"/>
              </a:rPr>
              <a:t>Assemble Design Elements, and design other needed components and 3D printing.</a:t>
            </a:r>
            <a:endParaRPr lang="en-US" sz="2000" dirty="0">
              <a:ea typeface="Source Sans Pro"/>
            </a:endParaRPr>
          </a:p>
          <a:p>
            <a:pPr marL="852170" lvl="1" indent="-342900">
              <a:buFont typeface="Arial" panose="020B0604020202020204"/>
              <a:buChar char="•"/>
            </a:pPr>
            <a:r>
              <a:rPr lang="en-US" sz="2400" b="1" dirty="0">
                <a:latin typeface="Times New Roman" panose="02020603050405020304"/>
                <a:ea typeface="Source Sans Pro"/>
                <a:cs typeface="Times New Roman" panose="02020603050405020304"/>
              </a:rPr>
              <a:t>Strategies: </a:t>
            </a:r>
            <a:r>
              <a:rPr lang="en-US" sz="2400" dirty="0">
                <a:latin typeface="Times New Roman" panose="02020603050405020304"/>
                <a:ea typeface="Source Sans Pro"/>
                <a:cs typeface="Times New Roman" panose="02020603050405020304"/>
              </a:rPr>
              <a:t>Start simulating strategies and parallel routines.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7159491"/>
            <a:ext cx="10051483" cy="610106"/>
          </a:xfrm>
          <a:prstGeom prst="rect">
            <a:avLst/>
          </a:prstGeom>
          <a:solidFill>
            <a:srgbClr val="0070C0"/>
          </a:solidFill>
          <a:ln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000" b="1">
                <a:solidFill>
                  <a:srgbClr val="FFFFFF"/>
                </a:solidFill>
                <a:latin typeface="Times New Roman" panose="02020603050405020304"/>
              </a:rPr>
              <a:t>                                      </a:t>
            </a:r>
            <a:r>
              <a:rPr lang="en-US" sz="2000" b="1" baseline="0">
                <a:solidFill>
                  <a:srgbClr val="FFFFFF"/>
                </a:solidFill>
                <a:latin typeface="Times New Roman" panose="02020603050405020304"/>
              </a:rPr>
              <a:t>Page - </a:t>
            </a:r>
            <a:r>
              <a:rPr lang="en-US" sz="2000" b="1">
                <a:solidFill>
                  <a:srgbClr val="FFFFFF"/>
                </a:solidFill>
                <a:latin typeface="Times New Roman" panose="02020603050405020304"/>
              </a:rPr>
              <a:t>04</a:t>
            </a:r>
            <a:endParaRPr lang="en-US" sz="2000">
              <a:latin typeface="Times New Roman" panose="02020603050405020304"/>
              <a:ea typeface="Source Sans Pro"/>
              <a:cs typeface="Times New Roman" panose="02020603050405020304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681" y="-4267"/>
            <a:ext cx="10051483" cy="870815"/>
          </a:xfrm>
          <a:prstGeom prst="rect">
            <a:avLst/>
          </a:prstGeom>
          <a:solidFill>
            <a:srgbClr val="0070C0"/>
          </a:solidFill>
          <a:ln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800" b="1">
                <a:solidFill>
                  <a:schemeClr val="bg1"/>
                </a:solidFill>
                <a:latin typeface="Times New Roman" panose="02020603050405020304"/>
                <a:ea typeface="Source Sans Pro"/>
                <a:cs typeface="Times New Roman" panose="02020603050405020304"/>
              </a:rPr>
              <a:t>SIMULATION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C6418A5-182A-0AA5-6894-47A62E92729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4329" r="-164" b="-289"/>
          <a:stretch>
            <a:fillRect/>
          </a:stretch>
        </p:blipFill>
        <p:spPr>
          <a:xfrm>
            <a:off x="819203" y="2571114"/>
            <a:ext cx="8420001" cy="4576495"/>
          </a:xfrm>
          <a:prstGeom prst="rect">
            <a:avLst/>
          </a:prstGeom>
        </p:spPr>
      </p:pic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C98DD86E-8D14-D3F0-33A2-DC531BF2258D}"/>
              </a:ext>
            </a:extLst>
          </p:cNvPr>
          <p:cNvSpPr/>
          <p:nvPr/>
        </p:nvSpPr>
        <p:spPr>
          <a:xfrm>
            <a:off x="3569914" y="1330200"/>
            <a:ext cx="2946217" cy="604352"/>
          </a:xfrm>
          <a:prstGeom prst="roundRect">
            <a:avLst/>
          </a:prstGeom>
          <a:solidFill>
            <a:srgbClr val="0070C0"/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1018824" rtl="0" eaLnBrk="1" latinLnBrk="0" hangingPunct="1">
              <a:defRPr sz="2006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509412" algn="l" defTabSz="1018824" rtl="0" eaLnBrk="1" latinLnBrk="0" hangingPunct="1">
              <a:defRPr sz="2006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018824" algn="l" defTabSz="1018824" rtl="0" eaLnBrk="1" latinLnBrk="0" hangingPunct="1">
              <a:defRPr sz="2006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528237" algn="l" defTabSz="1018824" rtl="0" eaLnBrk="1" latinLnBrk="0" hangingPunct="1">
              <a:defRPr sz="2006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037649" algn="l" defTabSz="1018824" rtl="0" eaLnBrk="1" latinLnBrk="0" hangingPunct="1">
              <a:defRPr sz="2006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547061" algn="l" defTabSz="1018824" rtl="0" eaLnBrk="1" latinLnBrk="0" hangingPunct="1">
              <a:defRPr sz="2006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3056473" algn="l" defTabSz="1018824" rtl="0" eaLnBrk="1" latinLnBrk="0" hangingPunct="1">
              <a:defRPr sz="2006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565886" algn="l" defTabSz="1018824" rtl="0" eaLnBrk="1" latinLnBrk="0" hangingPunct="1">
              <a:defRPr sz="2006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4075298" algn="l" defTabSz="1018824" rtl="0" eaLnBrk="1" latinLnBrk="0" hangingPunct="1">
              <a:defRPr sz="2006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000" b="1" dirty="0">
                <a:solidFill>
                  <a:schemeClr val="bg1"/>
                </a:solidFill>
                <a:latin typeface="Times New Roman"/>
                <a:ea typeface="Source Sans Pro"/>
                <a:cs typeface="Times New Roman"/>
              </a:rPr>
              <a:t>Lidar integration</a:t>
            </a:r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7159491"/>
            <a:ext cx="10051483" cy="610106"/>
          </a:xfrm>
          <a:prstGeom prst="rect">
            <a:avLst/>
          </a:prstGeom>
          <a:solidFill>
            <a:srgbClr val="0070C0"/>
          </a:solidFill>
          <a:ln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000" b="1">
                <a:solidFill>
                  <a:srgbClr val="FFFFFF"/>
                </a:solidFill>
                <a:latin typeface="Times New Roman" panose="02020603050405020304"/>
              </a:rPr>
              <a:t>                                      </a:t>
            </a:r>
            <a:r>
              <a:rPr lang="en-US" sz="2000" b="1" baseline="0">
                <a:solidFill>
                  <a:srgbClr val="FFFFFF"/>
                </a:solidFill>
                <a:latin typeface="Times New Roman" panose="02020603050405020304"/>
              </a:rPr>
              <a:t>Page - </a:t>
            </a:r>
            <a:r>
              <a:rPr lang="en-US" sz="2000" b="1">
                <a:solidFill>
                  <a:srgbClr val="FFFFFF"/>
                </a:solidFill>
                <a:latin typeface="Times New Roman" panose="02020603050405020304"/>
              </a:rPr>
              <a:t>05</a:t>
            </a:r>
            <a:endParaRPr lang="en-US" sz="2000">
              <a:latin typeface="Times New Roman" panose="02020603050405020304"/>
              <a:ea typeface="Source Sans Pro"/>
              <a:cs typeface="Times New Roman" panose="02020603050405020304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681" y="-4267"/>
            <a:ext cx="10051483" cy="870815"/>
          </a:xfrm>
          <a:prstGeom prst="rect">
            <a:avLst/>
          </a:prstGeom>
          <a:solidFill>
            <a:srgbClr val="0070C0"/>
          </a:solidFill>
          <a:ln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800" b="1">
                <a:solidFill>
                  <a:schemeClr val="bg1"/>
                </a:solidFill>
                <a:latin typeface="Times New Roman" panose="02020603050405020304"/>
                <a:ea typeface="Source Sans Pro"/>
                <a:cs typeface="Times New Roman" panose="02020603050405020304"/>
              </a:rPr>
              <a:t>CAD Modelling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CEDE663-6969-0FE1-5798-84A901A54E5B}"/>
              </a:ext>
            </a:extLst>
          </p:cNvPr>
          <p:cNvSpPr txBox="1"/>
          <p:nvPr/>
        </p:nvSpPr>
        <p:spPr>
          <a:xfrm>
            <a:off x="4077" y="2615242"/>
            <a:ext cx="7001754" cy="286309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Font typeface="Arial"/>
              <a:buChar char="•"/>
            </a:pPr>
            <a:r>
              <a:rPr lang="en-US" sz="2800" dirty="0">
                <a:latin typeface="Times New Roman"/>
                <a:ea typeface="Source Sans Pro"/>
                <a:cs typeface="Times New Roman"/>
              </a:rPr>
              <a:t>Modification on the Existing model</a:t>
            </a:r>
            <a:endParaRPr lang="en-US" sz="2400" dirty="0">
              <a:latin typeface="Source Sans Pro"/>
              <a:ea typeface="Source Sans Pro"/>
              <a:cs typeface="Times New Roman"/>
            </a:endParaRPr>
          </a:p>
          <a:p>
            <a:pPr marL="342900" indent="-342900">
              <a:buFont typeface="Arial"/>
              <a:buChar char="•"/>
            </a:pPr>
            <a:r>
              <a:rPr lang="en-US" sz="2800" dirty="0">
                <a:latin typeface="Times New Roman"/>
                <a:ea typeface="Source Sans Pro"/>
                <a:cs typeface="Times New Roman"/>
              </a:rPr>
              <a:t>Designing the Beacon support </a:t>
            </a:r>
            <a:endParaRPr lang="en-US" dirty="0"/>
          </a:p>
          <a:p>
            <a:pPr marL="342900" indent="-342900">
              <a:buFont typeface="Arial"/>
              <a:buChar char="•"/>
            </a:pPr>
            <a:r>
              <a:rPr lang="en-US" sz="2800" dirty="0">
                <a:latin typeface="Times New Roman"/>
                <a:ea typeface="Source Sans Pro"/>
                <a:cs typeface="Times New Roman"/>
              </a:rPr>
              <a:t>Adding components for cursor movement</a:t>
            </a:r>
            <a:endParaRPr lang="en-US" dirty="0"/>
          </a:p>
          <a:p>
            <a:pPr marL="342900" indent="-342900">
              <a:buFont typeface="Arial"/>
              <a:buChar char="•"/>
            </a:pPr>
            <a:r>
              <a:rPr lang="en-US" sz="2800" dirty="0">
                <a:latin typeface="Times New Roman"/>
                <a:ea typeface="Source Sans Pro"/>
                <a:cs typeface="Times New Roman"/>
              </a:rPr>
              <a:t>Assembling the design.</a:t>
            </a:r>
            <a:endParaRPr lang="en-US" dirty="0"/>
          </a:p>
          <a:p>
            <a:pPr marL="342900" indent="-342900">
              <a:buFont typeface="Arial"/>
              <a:buChar char="•"/>
            </a:pPr>
            <a:r>
              <a:rPr lang="en-US" sz="2800" dirty="0">
                <a:latin typeface="Times New Roman"/>
                <a:ea typeface="Source Sans Pro"/>
                <a:cs typeface="Times New Roman"/>
              </a:rPr>
              <a:t>Printing the required CAD model.</a:t>
            </a:r>
            <a:endParaRPr lang="en-US"/>
          </a:p>
          <a:p>
            <a:r>
              <a:rPr lang="en-US" sz="2000" dirty="0">
                <a:latin typeface="Source Sans Pro"/>
                <a:ea typeface="Source Sans Pro"/>
                <a:cs typeface="Times New Roman"/>
              </a:rPr>
              <a:t>​</a:t>
            </a:r>
          </a:p>
          <a:p>
            <a:pPr algn="ctr"/>
            <a:endParaRPr lang="en-US"/>
          </a:p>
        </p:txBody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10" name="3D Model 9">
                <a:extLst>
                  <a:ext uri="{FF2B5EF4-FFF2-40B4-BE49-F238E27FC236}">
                    <a16:creationId xmlns:a16="http://schemas.microsoft.com/office/drawing/2014/main" id="{D53797F3-04F3-5D4D-66A6-4E21C8666DC5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756089906"/>
                  </p:ext>
                </p:extLst>
              </p:nvPr>
            </p:nvGraphicFramePr>
            <p:xfrm>
              <a:off x="6517259" y="870263"/>
              <a:ext cx="3519582" cy="2546771"/>
            </p:xfrm>
            <a:graphic>
              <a:graphicData uri="http://schemas.microsoft.com/office/drawing/2017/model3d">
                <am3d:model3d r:embed="rId2">
                  <am3d:spPr>
                    <a:xfrm>
                      <a:off x="0" y="0"/>
                      <a:ext cx="3519582" cy="2546771"/>
                    </a:xfrm>
                    <a:prstGeom prst="rect">
                      <a:avLst/>
                    </a:prstGeom>
                  </am3d:spPr>
                  <am3d:camera>
                    <am3d:pos x="0" y="0" z="56252557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4844758" d="1000000"/>
                    <am3d:preTrans dx="-11916718" dy="-2685934" dz="-2005731"/>
                    <am3d:scale>
                      <am3d:sx n="1000000" d="1000000"/>
                      <am3d:sy n="1000000" d="1000000"/>
                      <am3d:sz n="1000000" d="1000000"/>
                    </am3d:scale>
                    <am3d:rot ax="6717732" ay="384593" az="-928503"/>
                    <am3d:postTrans dx="0" dy="0" dz="0"/>
                  </am3d:trans>
                  <am3d:raster rName="Office3DRenderer" rVer="16.0.8326">
                    <am3d:blip r:embed="rId3"/>
                  </am3d:raster>
                  <am3d:objViewport viewportSz="3898286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10" name="3D Model 9">
                <a:extLst>
                  <a:ext uri="{FF2B5EF4-FFF2-40B4-BE49-F238E27FC236}">
                    <a16:creationId xmlns:a16="http://schemas.microsoft.com/office/drawing/2014/main" id="{D53797F3-04F3-5D4D-66A6-4E21C8666DC5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517259" y="870263"/>
                <a:ext cx="3519582" cy="2546771"/>
              </a:xfrm>
              <a:prstGeom prst="rect">
                <a:avLst/>
              </a:prstGeom>
            </p:spPr>
          </p:pic>
        </mc:Fallback>
      </mc:AlternateContent>
      <p:pic>
        <p:nvPicPr>
          <p:cNvPr id="11" name="Picture 10">
            <a:extLst>
              <a:ext uri="{FF2B5EF4-FFF2-40B4-BE49-F238E27FC236}">
                <a16:creationId xmlns:a16="http://schemas.microsoft.com/office/drawing/2014/main" id="{3CA92C19-071B-6179-D9E3-62535060844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0064" t="11272" r="19850" b="24691"/>
          <a:stretch>
            <a:fillRect/>
          </a:stretch>
        </p:blipFill>
        <p:spPr>
          <a:xfrm>
            <a:off x="6259412" y="4013200"/>
            <a:ext cx="3610588" cy="3146291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7159491"/>
            <a:ext cx="10051483" cy="610106"/>
          </a:xfrm>
          <a:prstGeom prst="rect">
            <a:avLst/>
          </a:prstGeom>
          <a:solidFill>
            <a:srgbClr val="0070C0"/>
          </a:solidFill>
          <a:ln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000" b="1">
                <a:solidFill>
                  <a:srgbClr val="FFFFFF"/>
                </a:solidFill>
                <a:latin typeface="Times New Roman" panose="02020603050405020304"/>
              </a:rPr>
              <a:t>                                      </a:t>
            </a:r>
            <a:r>
              <a:rPr lang="en-US" sz="2000" b="1" baseline="0">
                <a:solidFill>
                  <a:srgbClr val="FFFFFF"/>
                </a:solidFill>
                <a:latin typeface="Times New Roman" panose="02020603050405020304"/>
              </a:rPr>
              <a:t>Page - </a:t>
            </a:r>
            <a:r>
              <a:rPr lang="en-US" sz="2000" b="1">
                <a:solidFill>
                  <a:srgbClr val="FFFFFF"/>
                </a:solidFill>
                <a:latin typeface="Times New Roman" panose="02020603050405020304"/>
              </a:rPr>
              <a:t>06</a:t>
            </a:r>
            <a:endParaRPr lang="en-US" sz="2000">
              <a:latin typeface="Times New Roman" panose="02020603050405020304"/>
              <a:ea typeface="Source Sans Pro"/>
              <a:cs typeface="Times New Roman" panose="02020603050405020304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681" y="-4267"/>
            <a:ext cx="10051483" cy="870815"/>
          </a:xfrm>
          <a:prstGeom prst="rect">
            <a:avLst/>
          </a:prstGeom>
          <a:solidFill>
            <a:srgbClr val="0070C0"/>
          </a:solidFill>
          <a:ln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800" b="1">
                <a:solidFill>
                  <a:schemeClr val="bg1"/>
                </a:solidFill>
                <a:latin typeface="Times New Roman" panose="02020603050405020304"/>
                <a:ea typeface="Source Sans Pro"/>
                <a:cs typeface="Times New Roman" panose="02020603050405020304"/>
              </a:rPr>
              <a:t>STRATEGIES</a:t>
            </a:r>
          </a:p>
        </p:txBody>
      </p:sp>
      <p:pic>
        <p:nvPicPr>
          <p:cNvPr id="10" name="Image 9" descr="Une image contenant texte, capture d’écran, Police, graphisme&#10;&#10;Le contenu généré par l’IA peut être incorrect.">
            <a:extLst>
              <a:ext uri="{FF2B5EF4-FFF2-40B4-BE49-F238E27FC236}">
                <a16:creationId xmlns:a16="http://schemas.microsoft.com/office/drawing/2014/main" id="{977291A0-3F73-EBBA-136D-E75DBBA2E8E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4208" b="58429"/>
          <a:stretch>
            <a:fillRect/>
          </a:stretch>
        </p:blipFill>
        <p:spPr>
          <a:xfrm>
            <a:off x="-2320083" y="2084909"/>
            <a:ext cx="6322252" cy="5701230"/>
          </a:xfrm>
          <a:prstGeom prst="rect">
            <a:avLst/>
          </a:prstGeom>
        </p:spPr>
      </p:pic>
      <p:pic>
        <p:nvPicPr>
          <p:cNvPr id="12" name="Image 11" descr="Une image contenant texte, capture d’écran, Police, graphisme&#10;&#10;Le contenu généré par l’IA peut être incorrect.">
            <a:extLst>
              <a:ext uri="{FF2B5EF4-FFF2-40B4-BE49-F238E27FC236}">
                <a16:creationId xmlns:a16="http://schemas.microsoft.com/office/drawing/2014/main" id="{EA5558DB-F8BB-4BA2-B798-8B53B74330E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4615" t="46639" b="23519"/>
          <a:stretch>
            <a:fillRect/>
          </a:stretch>
        </p:blipFill>
        <p:spPr>
          <a:xfrm>
            <a:off x="6316544" y="-565252"/>
            <a:ext cx="8611196" cy="5604398"/>
          </a:xfrm>
          <a:prstGeom prst="rect">
            <a:avLst/>
          </a:prstGeom>
        </p:spPr>
      </p:pic>
      <p:pic>
        <p:nvPicPr>
          <p:cNvPr id="14" name="Image 13" descr="Une image contenant texte, capture d’écran, Police, graphisme&#10;&#10;Le contenu généré par l’IA peut être incorrect.">
            <a:extLst>
              <a:ext uri="{FF2B5EF4-FFF2-40B4-BE49-F238E27FC236}">
                <a16:creationId xmlns:a16="http://schemas.microsoft.com/office/drawing/2014/main" id="{36EA5E82-8DF5-295E-B93D-BB88DA63C23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1694" t="81923" r="52123"/>
          <a:stretch>
            <a:fillRect/>
          </a:stretch>
        </p:blipFill>
        <p:spPr>
          <a:xfrm>
            <a:off x="-697655" y="-565957"/>
            <a:ext cx="3088744" cy="3506145"/>
          </a:xfrm>
          <a:prstGeom prst="rect">
            <a:avLst/>
          </a:prstGeom>
        </p:spPr>
      </p:pic>
      <p:pic>
        <p:nvPicPr>
          <p:cNvPr id="18" name="Image 17" descr="Une image contenant texte, capture d’écran, Police, blanc&#10;&#10;Le contenu généré par l’IA peut être incorrect.">
            <a:extLst>
              <a:ext uri="{FF2B5EF4-FFF2-40B4-BE49-F238E27FC236}">
                <a16:creationId xmlns:a16="http://schemas.microsoft.com/office/drawing/2014/main" id="{F755C60E-A39E-C7AA-1689-FB059B6ABE8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19768" y="1148226"/>
            <a:ext cx="1349453" cy="4695204"/>
          </a:xfrm>
          <a:prstGeom prst="rect">
            <a:avLst/>
          </a:prstGeom>
        </p:spPr>
      </p:pic>
      <p:pic>
        <p:nvPicPr>
          <p:cNvPr id="20" name="Image 19" descr="Une image contenant texte, capture d’écran, Police, diagramme&#10;&#10;Le contenu généré par l’IA peut être incorrect.">
            <a:extLst>
              <a:ext uri="{FF2B5EF4-FFF2-40B4-BE49-F238E27FC236}">
                <a16:creationId xmlns:a16="http://schemas.microsoft.com/office/drawing/2014/main" id="{4FDB6273-C285-71ED-C7FF-247D0E75AC7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20430" y="1450437"/>
            <a:ext cx="3658152" cy="4819470"/>
          </a:xfrm>
          <a:prstGeom prst="rect">
            <a:avLst/>
          </a:prstGeom>
        </p:spPr>
      </p:pic>
      <p:sp>
        <p:nvSpPr>
          <p:cNvPr id="21" name="ZoneTexte 20">
            <a:extLst>
              <a:ext uri="{FF2B5EF4-FFF2-40B4-BE49-F238E27FC236}">
                <a16:creationId xmlns:a16="http://schemas.microsoft.com/office/drawing/2014/main" id="{C2DD404F-AE96-B063-77ED-24B2DFE2B542}"/>
              </a:ext>
            </a:extLst>
          </p:cNvPr>
          <p:cNvSpPr txBox="1"/>
          <p:nvPr/>
        </p:nvSpPr>
        <p:spPr>
          <a:xfrm>
            <a:off x="2920012" y="963422"/>
            <a:ext cx="421145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Not too cold, not too warm</a:t>
            </a:r>
          </a:p>
        </p:txBody>
      </p:sp>
      <p:sp>
        <p:nvSpPr>
          <p:cNvPr id="22" name="ZoneTexte 21">
            <a:extLst>
              <a:ext uri="{FF2B5EF4-FFF2-40B4-BE49-F238E27FC236}">
                <a16:creationId xmlns:a16="http://schemas.microsoft.com/office/drawing/2014/main" id="{CA35584E-6F13-2BDD-4CDE-6CFAB6FB9782}"/>
              </a:ext>
            </a:extLst>
          </p:cNvPr>
          <p:cNvSpPr txBox="1"/>
          <p:nvPr/>
        </p:nvSpPr>
        <p:spPr>
          <a:xfrm>
            <a:off x="2920011" y="959510"/>
            <a:ext cx="421145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Let’s keep the hazelnuts warm</a:t>
            </a:r>
          </a:p>
        </p:txBody>
      </p:sp>
      <p:sp>
        <p:nvSpPr>
          <p:cNvPr id="23" name="ZoneTexte 22">
            <a:extLst>
              <a:ext uri="{FF2B5EF4-FFF2-40B4-BE49-F238E27FC236}">
                <a16:creationId xmlns:a16="http://schemas.microsoft.com/office/drawing/2014/main" id="{FF4674D3-CA2A-58BA-EEBF-7A1484F4A250}"/>
              </a:ext>
            </a:extLst>
          </p:cNvPr>
          <p:cNvSpPr txBox="1"/>
          <p:nvPr/>
        </p:nvSpPr>
        <p:spPr>
          <a:xfrm>
            <a:off x="2240846" y="947774"/>
            <a:ext cx="556978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Nest, Sweet Nest &amp; parallel routines</a:t>
            </a:r>
          </a:p>
        </p:txBody>
      </p:sp>
      <p:sp>
        <p:nvSpPr>
          <p:cNvPr id="24" name="ZoneTexte 23">
            <a:extLst>
              <a:ext uri="{FF2B5EF4-FFF2-40B4-BE49-F238E27FC236}">
                <a16:creationId xmlns:a16="http://schemas.microsoft.com/office/drawing/2014/main" id="{9103E290-A014-7323-7B01-59DB1D2CFC50}"/>
              </a:ext>
            </a:extLst>
          </p:cNvPr>
          <p:cNvSpPr txBox="1"/>
          <p:nvPr/>
        </p:nvSpPr>
        <p:spPr>
          <a:xfrm>
            <a:off x="568940" y="5379545"/>
            <a:ext cx="259134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Nest, Sweet Nest</a:t>
            </a:r>
          </a:p>
        </p:txBody>
      </p:sp>
      <p:sp>
        <p:nvSpPr>
          <p:cNvPr id="25" name="ZoneTexte 24">
            <a:extLst>
              <a:ext uri="{FF2B5EF4-FFF2-40B4-BE49-F238E27FC236}">
                <a16:creationId xmlns:a16="http://schemas.microsoft.com/office/drawing/2014/main" id="{91F2EF43-CB87-BB73-CC6D-9F6D7D3BF896}"/>
              </a:ext>
            </a:extLst>
          </p:cNvPr>
          <p:cNvSpPr txBox="1"/>
          <p:nvPr/>
        </p:nvSpPr>
        <p:spPr>
          <a:xfrm>
            <a:off x="3481549" y="6332350"/>
            <a:ext cx="31611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Robot detection routine</a:t>
            </a:r>
          </a:p>
        </p:txBody>
      </p:sp>
      <p:sp>
        <p:nvSpPr>
          <p:cNvPr id="26" name="ZoneTexte 25">
            <a:extLst>
              <a:ext uri="{FF2B5EF4-FFF2-40B4-BE49-F238E27FC236}">
                <a16:creationId xmlns:a16="http://schemas.microsoft.com/office/drawing/2014/main" id="{09AB4EFE-00FB-6BF4-2E70-3EE036F5E6B5}"/>
              </a:ext>
            </a:extLst>
          </p:cNvPr>
          <p:cNvSpPr txBox="1"/>
          <p:nvPr/>
        </p:nvSpPr>
        <p:spPr>
          <a:xfrm>
            <a:off x="6891187" y="6428539"/>
            <a:ext cx="259134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Timer routine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22" grpId="0"/>
      <p:bldP spid="22" grpId="1"/>
      <p:bldP spid="23" grpId="0"/>
      <p:bldP spid="24" grpId="0"/>
      <p:bldP spid="25" grpId="0"/>
      <p:bldP spid="26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5681" y="-4267"/>
            <a:ext cx="10051483" cy="870815"/>
          </a:xfrm>
          <a:prstGeom prst="rect">
            <a:avLst/>
          </a:prstGeom>
          <a:solidFill>
            <a:srgbClr val="0070C0"/>
          </a:solidFill>
          <a:ln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800" b="1">
                <a:solidFill>
                  <a:schemeClr val="bg1"/>
                </a:solidFill>
                <a:latin typeface="Times New Roman"/>
                <a:ea typeface="Source Sans Pro"/>
                <a:cs typeface="Times New Roman" panose="02020603050405020304"/>
              </a:rPr>
              <a:t>EUROBOT 2026– ROBOT CHECKLIST</a:t>
            </a:r>
            <a:endParaRPr lang="en-US" sz="2000" b="1">
              <a:solidFill>
                <a:schemeClr val="bg1"/>
              </a:solidFill>
              <a:latin typeface="Times New Roman"/>
              <a:cs typeface="Times New Roman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0" y="7159491"/>
            <a:ext cx="10051483" cy="610106"/>
          </a:xfrm>
          <a:prstGeom prst="rect">
            <a:avLst/>
          </a:prstGeom>
          <a:solidFill>
            <a:srgbClr val="0070C0"/>
          </a:solidFill>
          <a:ln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000" b="1">
                <a:solidFill>
                  <a:srgbClr val="FFFFFF"/>
                </a:solidFill>
                <a:latin typeface="Times New Roman" panose="02020603050405020304"/>
              </a:rPr>
              <a:t>                                      </a:t>
            </a:r>
            <a:r>
              <a:rPr lang="en-US" sz="2000" b="1" baseline="0">
                <a:solidFill>
                  <a:srgbClr val="FFFFFF"/>
                </a:solidFill>
                <a:latin typeface="Times New Roman" panose="02020603050405020304"/>
              </a:rPr>
              <a:t>Page - </a:t>
            </a:r>
            <a:r>
              <a:rPr lang="en-US" sz="2000" b="1">
                <a:solidFill>
                  <a:srgbClr val="FFFFFF"/>
                </a:solidFill>
                <a:latin typeface="Times New Roman" panose="02020603050405020304"/>
              </a:rPr>
              <a:t>7</a:t>
            </a:r>
            <a:endParaRPr lang="en-US" sz="2000">
              <a:latin typeface="Times New Roman" panose="02020603050405020304"/>
              <a:ea typeface="Source Sans Pro"/>
              <a:cs typeface="Times New Roman" panose="02020603050405020304"/>
            </a:endParaRPr>
          </a:p>
        </p:txBody>
      </p:sp>
      <p:pic>
        <p:nvPicPr>
          <p:cNvPr id="8" name="Image 7" descr="Une image contenant capture d’écran, carré, Rectangle, conception&#10;&#10;Le contenu généré par l’IA peut être incorrect.">
            <a:extLst>
              <a:ext uri="{FF2B5EF4-FFF2-40B4-BE49-F238E27FC236}">
                <a16:creationId xmlns:a16="http://schemas.microsoft.com/office/drawing/2014/main" id="{C0E9D0D9-9DDB-33F3-1A76-BEF96220EE1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0000"/>
          <a:stretch>
            <a:fillRect/>
          </a:stretch>
        </p:blipFill>
        <p:spPr>
          <a:xfrm>
            <a:off x="1895707" y="1472021"/>
            <a:ext cx="6266985" cy="5545391"/>
          </a:xfrm>
          <a:prstGeom prst="rect">
            <a:avLst/>
          </a:prstGeom>
        </p:spPr>
      </p:pic>
      <p:sp>
        <p:nvSpPr>
          <p:cNvPr id="12" name="ZoneTexte 11">
            <a:extLst>
              <a:ext uri="{FF2B5EF4-FFF2-40B4-BE49-F238E27FC236}">
                <a16:creationId xmlns:a16="http://schemas.microsoft.com/office/drawing/2014/main" id="{0F490113-5660-EC82-B009-E9D4981DBB40}"/>
              </a:ext>
            </a:extLst>
          </p:cNvPr>
          <p:cNvSpPr txBox="1"/>
          <p:nvPr/>
        </p:nvSpPr>
        <p:spPr>
          <a:xfrm>
            <a:off x="2240846" y="947774"/>
            <a:ext cx="556978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Robot requirements</a:t>
            </a:r>
          </a:p>
        </p:txBody>
      </p:sp>
      <p:pic>
        <p:nvPicPr>
          <p:cNvPr id="14" name="Image 13" descr="Une image contenant capture d’écran, carré, Rectangle, conception&#10;&#10;Le contenu généré par l’IA peut être incorrect.">
            <a:extLst>
              <a:ext uri="{FF2B5EF4-FFF2-40B4-BE49-F238E27FC236}">
                <a16:creationId xmlns:a16="http://schemas.microsoft.com/office/drawing/2014/main" id="{1BD27284-4452-100E-F934-E9CD9CA7143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50000"/>
          <a:stretch>
            <a:fillRect/>
          </a:stretch>
        </p:blipFill>
        <p:spPr>
          <a:xfrm>
            <a:off x="1950906" y="1472021"/>
            <a:ext cx="6266985" cy="554539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7159491"/>
            <a:ext cx="10051483" cy="610106"/>
          </a:xfrm>
          <a:prstGeom prst="rect">
            <a:avLst/>
          </a:prstGeom>
          <a:solidFill>
            <a:srgbClr val="0070C0"/>
          </a:solidFill>
          <a:ln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000" b="1">
                <a:solidFill>
                  <a:srgbClr val="FFFFFF"/>
                </a:solidFill>
                <a:latin typeface="Times New Roman" panose="02020603050405020304"/>
              </a:rPr>
              <a:t>                                      </a:t>
            </a:r>
            <a:r>
              <a:rPr lang="en-US" sz="2000" b="1" baseline="0">
                <a:solidFill>
                  <a:srgbClr val="FFFFFF"/>
                </a:solidFill>
                <a:latin typeface="Times New Roman" panose="02020603050405020304"/>
              </a:rPr>
              <a:t>Page - 8</a:t>
            </a:r>
            <a:endParaRPr lang="en-US" sz="2000">
              <a:latin typeface="Times New Roman" panose="02020603050405020304"/>
              <a:ea typeface="Source Sans Pro"/>
              <a:cs typeface="Times New Roman" panose="02020603050405020304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681" y="-4267"/>
            <a:ext cx="10051483" cy="870815"/>
          </a:xfrm>
          <a:prstGeom prst="rect">
            <a:avLst/>
          </a:prstGeom>
          <a:solidFill>
            <a:srgbClr val="0070C0"/>
          </a:solidFill>
          <a:ln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800" b="1">
                <a:solidFill>
                  <a:schemeClr val="bg1"/>
                </a:solidFill>
                <a:latin typeface="Times New Roman" panose="02020603050405020304"/>
                <a:ea typeface="Source Sans Pro"/>
                <a:cs typeface="Times New Roman" panose="02020603050405020304"/>
              </a:rPr>
              <a:t>PROJECT MANAGEMENT</a:t>
            </a:r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BC43C3B-2768-E151-2595-FB9EDC233400}"/>
              </a:ext>
            </a:extLst>
          </p:cNvPr>
          <p:cNvSpPr txBox="1"/>
          <p:nvPr/>
        </p:nvSpPr>
        <p:spPr>
          <a:xfrm>
            <a:off x="167056" y="1002336"/>
            <a:ext cx="9726380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800" b="1">
                <a:ea typeface="Source Sans Pro"/>
              </a:rPr>
              <a:t>RASCI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EF6CF4B-AAD3-C3F5-30FD-190E5A05B0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14384"/>
            <a:ext cx="10053042" cy="414363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133D7AE-A475-FA43-7DB6-AF9C037B9CB5}"/>
              </a:ext>
            </a:extLst>
          </p:cNvPr>
          <p:cNvSpPr txBox="1"/>
          <p:nvPr/>
        </p:nvSpPr>
        <p:spPr>
          <a:xfrm>
            <a:off x="523934" y="6286905"/>
            <a:ext cx="9522200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>
                <a:solidFill>
                  <a:srgbClr val="FF0000"/>
                </a:solidFill>
                <a:ea typeface="Source Sans Pro"/>
              </a:rPr>
              <a:t>R: Responsible</a:t>
            </a:r>
            <a:r>
              <a:rPr lang="en-US" sz="2000">
                <a:ea typeface="Source Sans Pro"/>
              </a:rPr>
              <a:t>, </a:t>
            </a:r>
            <a:r>
              <a:rPr lang="en-US" sz="2000" b="1">
                <a:solidFill>
                  <a:srgbClr val="0070C0"/>
                </a:solidFill>
                <a:ea typeface="Source Sans Pro"/>
              </a:rPr>
              <a:t>A: Accountable</a:t>
            </a:r>
            <a:r>
              <a:rPr lang="en-US" sz="2000">
                <a:ea typeface="Source Sans Pro"/>
              </a:rPr>
              <a:t>, </a:t>
            </a:r>
            <a:r>
              <a:rPr lang="en-US" sz="2000" b="1">
                <a:solidFill>
                  <a:srgbClr val="7030A0"/>
                </a:solidFill>
                <a:ea typeface="Source Sans Pro"/>
              </a:rPr>
              <a:t>S: Support</a:t>
            </a:r>
            <a:r>
              <a:rPr lang="en-US" sz="2000">
                <a:ea typeface="Source Sans Pro"/>
              </a:rPr>
              <a:t>,</a:t>
            </a:r>
            <a:r>
              <a:rPr lang="en-US" sz="2000">
                <a:solidFill>
                  <a:srgbClr val="00B050"/>
                </a:solidFill>
                <a:ea typeface="Source Sans Pro"/>
              </a:rPr>
              <a:t> </a:t>
            </a:r>
            <a:r>
              <a:rPr lang="en-US" sz="2000" b="1">
                <a:solidFill>
                  <a:srgbClr val="00B050"/>
                </a:solidFill>
                <a:ea typeface="Source Sans Pro"/>
              </a:rPr>
              <a:t>C: Consulted</a:t>
            </a:r>
            <a:r>
              <a:rPr lang="en-US" sz="2000">
                <a:ea typeface="Source Sans Pro"/>
              </a:rPr>
              <a:t>, </a:t>
            </a:r>
            <a:r>
              <a:rPr lang="en-US" sz="2000" b="1">
                <a:solidFill>
                  <a:srgbClr val="FFC000"/>
                </a:solidFill>
                <a:ea typeface="Source Sans Pro"/>
              </a:rPr>
              <a:t>I: Informed</a:t>
            </a:r>
            <a:endParaRPr lang="en-US" b="1">
              <a:solidFill>
                <a:srgbClr val="FFC000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7159491"/>
            <a:ext cx="10051483" cy="610106"/>
          </a:xfrm>
          <a:prstGeom prst="rect">
            <a:avLst/>
          </a:prstGeom>
          <a:solidFill>
            <a:srgbClr val="0070C0"/>
          </a:solidFill>
          <a:ln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000" b="1">
                <a:solidFill>
                  <a:srgbClr val="FFFFFF"/>
                </a:solidFill>
                <a:latin typeface="Times New Roman" panose="02020603050405020304"/>
              </a:rPr>
              <a:t>                                      </a:t>
            </a:r>
            <a:r>
              <a:rPr lang="en-US" sz="2000" b="1" baseline="0">
                <a:solidFill>
                  <a:srgbClr val="FFFFFF"/>
                </a:solidFill>
                <a:latin typeface="Times New Roman" panose="02020603050405020304"/>
              </a:rPr>
              <a:t>Page - </a:t>
            </a:r>
            <a:r>
              <a:rPr lang="en-US" sz="2000" b="1">
                <a:solidFill>
                  <a:srgbClr val="FFFFFF"/>
                </a:solidFill>
                <a:latin typeface="Times New Roman" panose="02020603050405020304"/>
              </a:rPr>
              <a:t>06</a:t>
            </a:r>
            <a:endParaRPr lang="en-US" sz="2000">
              <a:latin typeface="Times New Roman" panose="02020603050405020304"/>
              <a:ea typeface="Source Sans Pro"/>
              <a:cs typeface="Times New Roman" panose="02020603050405020304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681" y="-4267"/>
            <a:ext cx="10051483" cy="870815"/>
          </a:xfrm>
          <a:prstGeom prst="rect">
            <a:avLst/>
          </a:prstGeom>
          <a:solidFill>
            <a:srgbClr val="0070C0"/>
          </a:solidFill>
          <a:ln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800" err="1">
                <a:solidFill>
                  <a:schemeClr val="bg1"/>
                </a:solidFill>
                <a:ea typeface="+mn-lt"/>
                <a:cs typeface="+mn-lt"/>
              </a:rPr>
              <a:t>Eurobot</a:t>
            </a:r>
            <a:r>
              <a:rPr lang="en-US" sz="2800">
                <a:solidFill>
                  <a:schemeClr val="bg1"/>
                </a:solidFill>
                <a:ea typeface="+mn-lt"/>
                <a:cs typeface="+mn-lt"/>
              </a:rPr>
              <a:t> 2026– design checklist</a:t>
            </a:r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D2E7CE5-65E9-2CF5-002F-50BD47A9F441}"/>
              </a:ext>
            </a:extLst>
          </p:cNvPr>
          <p:cNvSpPr txBox="1"/>
          <p:nvPr/>
        </p:nvSpPr>
        <p:spPr>
          <a:xfrm>
            <a:off x="183399" y="1393167"/>
            <a:ext cx="9870925" cy="440197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>
                <a:ea typeface="+mn-lt"/>
                <a:cs typeface="+mn-lt"/>
              </a:rPr>
              <a:t>Core geometry</a:t>
            </a:r>
            <a:endParaRPr lang="en-US" sz="2000" b="1">
              <a:ea typeface="Source Sans Pro"/>
            </a:endParaRPr>
          </a:p>
          <a:p>
            <a:pPr marL="342900" indent="-342900">
              <a:buFont typeface="Arial"/>
              <a:buChar char="•"/>
            </a:pPr>
            <a:r>
              <a:rPr lang="en-US" sz="2000" b="1"/>
              <a:t>Start perimeter ≤ 1200 mm</a:t>
            </a:r>
            <a:r>
              <a:rPr lang="en-US" sz="2000"/>
              <a:t> ( from robot’s top view)</a:t>
            </a:r>
            <a:endParaRPr lang="en-US" sz="2000">
              <a:ea typeface="Source Sans Pro"/>
            </a:endParaRPr>
          </a:p>
          <a:p>
            <a:pPr marL="342900" indent="-342900">
              <a:buFont typeface="Arial"/>
              <a:buChar char="•"/>
            </a:pPr>
            <a:r>
              <a:rPr lang="en-US" sz="2000">
                <a:ea typeface="+mn-lt"/>
                <a:cs typeface="+mn-lt"/>
              </a:rPr>
              <a:t>Deployed perimeter ≤ 1400 mm during the match</a:t>
            </a:r>
            <a:endParaRPr lang="en-US" sz="2000">
              <a:ea typeface="Source Sans Pro"/>
            </a:endParaRPr>
          </a:p>
          <a:p>
            <a:pPr marL="342900" indent="-342900">
              <a:buFont typeface="Arial"/>
              <a:buChar char="•"/>
            </a:pPr>
            <a:r>
              <a:rPr lang="en-US" sz="2000">
                <a:ea typeface="+mn-lt"/>
                <a:cs typeface="+mn-lt"/>
              </a:rPr>
              <a:t>Height </a:t>
            </a:r>
            <a:r>
              <a:rPr lang="en-US" sz="2000" b="1">
                <a:ea typeface="+mn-lt"/>
                <a:cs typeface="+mn-lt"/>
              </a:rPr>
              <a:t>≤ 350 mm</a:t>
            </a:r>
            <a:r>
              <a:rPr lang="en-US" sz="2000">
                <a:ea typeface="+mn-lt"/>
                <a:cs typeface="+mn-lt"/>
              </a:rPr>
              <a:t> at all times (E-stop may reach </a:t>
            </a:r>
            <a:r>
              <a:rPr lang="en-US" sz="2000" b="1">
                <a:ea typeface="+mn-lt"/>
                <a:cs typeface="+mn-lt"/>
              </a:rPr>
              <a:t>375 mm</a:t>
            </a:r>
            <a:r>
              <a:rPr lang="en-US" sz="2000">
                <a:ea typeface="+mn-lt"/>
                <a:cs typeface="+mn-lt"/>
              </a:rPr>
              <a:t>).</a:t>
            </a:r>
            <a:endParaRPr lang="en-US" sz="2000">
              <a:ea typeface="Source Sans Pro"/>
            </a:endParaRPr>
          </a:p>
          <a:p>
            <a:pPr marL="342900" indent="-342900">
              <a:buFont typeface="Arial"/>
              <a:buChar char="•"/>
            </a:pPr>
            <a:r>
              <a:rPr lang="en-US" sz="2000">
                <a:ea typeface="+mn-lt"/>
                <a:cs typeface="+mn-lt"/>
              </a:rPr>
              <a:t>Add a </a:t>
            </a:r>
            <a:r>
              <a:rPr lang="en-US" sz="2000" b="1">
                <a:ea typeface="+mn-lt"/>
                <a:cs typeface="+mn-lt"/>
              </a:rPr>
              <a:t>beacon support platform at 430 ± 5 mm</a:t>
            </a:r>
            <a:r>
              <a:rPr lang="en-US" sz="2000">
                <a:ea typeface="+mn-lt"/>
                <a:cs typeface="+mn-lt"/>
              </a:rPr>
              <a:t> above the field (this mast is </a:t>
            </a:r>
            <a:r>
              <a:rPr lang="en-US" sz="2000" i="1">
                <a:ea typeface="+mn-lt"/>
                <a:cs typeface="+mn-lt"/>
              </a:rPr>
              <a:t>excluded</a:t>
            </a:r>
            <a:r>
              <a:rPr lang="en-US" sz="2000">
                <a:ea typeface="+mn-lt"/>
                <a:cs typeface="+mn-lt"/>
              </a:rPr>
              <a:t> from the 350 mm height). </a:t>
            </a:r>
            <a:endParaRPr lang="en-US" sz="2000">
              <a:ea typeface="Source Sans Pro"/>
            </a:endParaRPr>
          </a:p>
          <a:p>
            <a:pPr marL="342900" indent="-342900">
              <a:buFont typeface="Arial"/>
              <a:buChar char="•"/>
            </a:pPr>
            <a:r>
              <a:rPr lang="en-US" sz="2000">
                <a:ea typeface="+mn-lt"/>
                <a:cs typeface="+mn-lt"/>
              </a:rPr>
              <a:t>Platform must be convex, </a:t>
            </a:r>
            <a:r>
              <a:rPr lang="en-US" sz="2000" b="1">
                <a:ea typeface="+mn-lt"/>
                <a:cs typeface="+mn-lt"/>
              </a:rPr>
              <a:t>70–100 mm</a:t>
            </a:r>
            <a:r>
              <a:rPr lang="en-US" sz="2000">
                <a:ea typeface="+mn-lt"/>
                <a:cs typeface="+mn-lt"/>
              </a:rPr>
              <a:t> across, </a:t>
            </a:r>
            <a:r>
              <a:rPr lang="en-US" sz="2000" b="1">
                <a:ea typeface="+mn-lt"/>
                <a:cs typeface="+mn-lt"/>
              </a:rPr>
              <a:t>Velcro hook</a:t>
            </a:r>
            <a:r>
              <a:rPr lang="en-US" sz="2000">
                <a:ea typeface="+mn-lt"/>
                <a:cs typeface="+mn-lt"/>
              </a:rPr>
              <a:t> on top, able to support </a:t>
            </a:r>
            <a:r>
              <a:rPr lang="en-US" sz="2000" b="1">
                <a:ea typeface="+mn-lt"/>
                <a:cs typeface="+mn-lt"/>
              </a:rPr>
              <a:t>≥ 400 g</a:t>
            </a:r>
            <a:r>
              <a:rPr lang="en-US" sz="2000">
                <a:ea typeface="+mn-lt"/>
                <a:cs typeface="+mn-lt"/>
              </a:rPr>
              <a:t>, and located near the robot’s center. </a:t>
            </a:r>
            <a:endParaRPr lang="en-US" sz="2000">
              <a:ea typeface="Source Sans Pro"/>
            </a:endParaRPr>
          </a:p>
          <a:p>
            <a:pPr marL="342900" indent="-342900">
              <a:buFont typeface="Arial"/>
              <a:buChar char="•"/>
            </a:pPr>
            <a:endParaRPr lang="en-US" sz="2000">
              <a:ea typeface="Source Sans Pro"/>
            </a:endParaRPr>
          </a:p>
          <a:p>
            <a:r>
              <a:rPr lang="en-US" sz="2000" b="1">
                <a:ea typeface="+mn-lt"/>
                <a:cs typeface="+mn-lt"/>
              </a:rPr>
              <a:t>Power &amp; pneumatics </a:t>
            </a:r>
          </a:p>
          <a:p>
            <a:pPr marL="342900" indent="-342900">
              <a:buFont typeface="Arial"/>
              <a:buChar char="•"/>
            </a:pPr>
            <a:r>
              <a:rPr lang="en-US" sz="2000">
                <a:ea typeface="+mn-lt"/>
                <a:cs typeface="+mn-lt"/>
              </a:rPr>
              <a:t>On-board voltage ≤ 48 V DC (or 48 V p-p AC) Only </a:t>
            </a:r>
            <a:r>
              <a:rPr lang="en-US" sz="2000" b="1">
                <a:ea typeface="+mn-lt"/>
                <a:cs typeface="+mn-lt"/>
              </a:rPr>
              <a:t>unmodified</a:t>
            </a:r>
            <a:r>
              <a:rPr lang="en-US" sz="2000">
                <a:ea typeface="+mn-lt"/>
                <a:cs typeface="+mn-lt"/>
              </a:rPr>
              <a:t> commercial batteries</a:t>
            </a:r>
            <a:endParaRPr lang="en-US" sz="2000">
              <a:ea typeface="Source Sans Pro"/>
            </a:endParaRPr>
          </a:p>
          <a:p>
            <a:pPr marL="342900" indent="-342900">
              <a:buFont typeface="Arial"/>
              <a:buChar char="•"/>
            </a:pPr>
            <a:r>
              <a:rPr lang="en-US" sz="2000">
                <a:ea typeface="+mn-lt"/>
                <a:cs typeface="+mn-lt"/>
              </a:rPr>
              <a:t>Compressed air ≤ 4 bar</a:t>
            </a:r>
            <a:endParaRPr lang="en-US" sz="2000">
              <a:ea typeface="Source Sans Pro"/>
            </a:endParaRPr>
          </a:p>
          <a:p>
            <a:pPr marL="342900" indent="-342900">
              <a:buFont typeface="Arial"/>
              <a:buChar char="•"/>
            </a:pPr>
            <a:endParaRPr lang="en-US" sz="2000">
              <a:ea typeface="Source Sans Pro"/>
            </a:endParaRPr>
          </a:p>
          <a:p>
            <a:endParaRPr lang="en-US">
              <a:ea typeface="Source Sans Pro"/>
            </a:endParaRPr>
          </a:p>
        </p:txBody>
      </p:sp>
    </p:spTree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1A68A8EE-921C-78B5-9313-CD1C2F2310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167213E2-5C67-8B2F-0925-21C6C1E8DA69}"/>
              </a:ext>
            </a:extLst>
          </p:cNvPr>
          <p:cNvSpPr/>
          <p:nvPr/>
        </p:nvSpPr>
        <p:spPr>
          <a:xfrm>
            <a:off x="0" y="7159491"/>
            <a:ext cx="10051483" cy="610106"/>
          </a:xfrm>
          <a:prstGeom prst="rect">
            <a:avLst/>
          </a:prstGeom>
          <a:solidFill>
            <a:srgbClr val="0070C0"/>
          </a:solidFill>
          <a:ln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000" b="1">
                <a:solidFill>
                  <a:srgbClr val="FFFFFF"/>
                </a:solidFill>
                <a:latin typeface="Times New Roman" panose="02020603050405020304"/>
              </a:rPr>
              <a:t>                                      </a:t>
            </a:r>
            <a:r>
              <a:rPr lang="en-US" sz="2000" b="1" baseline="0">
                <a:solidFill>
                  <a:srgbClr val="FFFFFF"/>
                </a:solidFill>
                <a:latin typeface="Times New Roman" panose="02020603050405020304"/>
              </a:rPr>
              <a:t>Page - </a:t>
            </a:r>
            <a:r>
              <a:rPr lang="en-US" sz="2000" b="1">
                <a:solidFill>
                  <a:srgbClr val="FFFFFF"/>
                </a:solidFill>
                <a:latin typeface="Times New Roman" panose="02020603050405020304"/>
              </a:rPr>
              <a:t>06</a:t>
            </a:r>
            <a:endParaRPr lang="en-US" sz="2000">
              <a:latin typeface="Times New Roman" panose="02020603050405020304"/>
              <a:ea typeface="Source Sans Pro"/>
              <a:cs typeface="Times New Roman" panose="02020603050405020304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BECFA91-8C15-33C6-A54D-8BAECC91D341}"/>
              </a:ext>
            </a:extLst>
          </p:cNvPr>
          <p:cNvSpPr/>
          <p:nvPr/>
        </p:nvSpPr>
        <p:spPr>
          <a:xfrm>
            <a:off x="5681" y="-4267"/>
            <a:ext cx="10051483" cy="870815"/>
          </a:xfrm>
          <a:prstGeom prst="rect">
            <a:avLst/>
          </a:prstGeom>
          <a:solidFill>
            <a:srgbClr val="0070C0"/>
          </a:solidFill>
          <a:ln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800" err="1">
                <a:solidFill>
                  <a:schemeClr val="bg1"/>
                </a:solidFill>
                <a:ea typeface="+mn-lt"/>
                <a:cs typeface="+mn-lt"/>
              </a:rPr>
              <a:t>Eurobot</a:t>
            </a:r>
            <a:r>
              <a:rPr lang="en-US" sz="2800">
                <a:solidFill>
                  <a:schemeClr val="bg1"/>
                </a:solidFill>
                <a:ea typeface="+mn-lt"/>
                <a:cs typeface="+mn-lt"/>
              </a:rPr>
              <a:t> 2026– design checklist</a:t>
            </a:r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B6735FE-61F4-DB2C-4259-23078DF8C46E}"/>
              </a:ext>
            </a:extLst>
          </p:cNvPr>
          <p:cNvSpPr txBox="1"/>
          <p:nvPr/>
        </p:nvSpPr>
        <p:spPr>
          <a:xfrm>
            <a:off x="183399" y="1393167"/>
            <a:ext cx="9870925" cy="501752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>
                <a:ea typeface="+mn-lt"/>
                <a:cs typeface="+mn-lt"/>
              </a:rPr>
              <a:t>Safety</a:t>
            </a:r>
            <a:r>
              <a:rPr lang="en-US" sz="2000" b="1"/>
              <a:t> &amp; devices</a:t>
            </a:r>
            <a:endParaRPr lang="en-US" sz="2000">
              <a:ea typeface="Source Sans Pro"/>
            </a:endParaRPr>
          </a:p>
          <a:p>
            <a:pPr marL="285750" indent="-285750">
              <a:buFont typeface="Arial,Sans-Serif"/>
              <a:buChar char="•"/>
            </a:pPr>
            <a:endParaRPr lang="en-US" sz="2000">
              <a:ea typeface="Source Sans Pro"/>
            </a:endParaRPr>
          </a:p>
          <a:p>
            <a:r>
              <a:rPr lang="en-US" sz="2000" b="1">
                <a:ea typeface="+mn-lt"/>
                <a:cs typeface="+mn-lt"/>
              </a:rPr>
              <a:t>Mandatory E-stop</a:t>
            </a:r>
            <a:r>
              <a:rPr lang="en-US" sz="2000">
                <a:ea typeface="+mn-lt"/>
                <a:cs typeface="+mn-lt"/>
              </a:rPr>
              <a:t>: red, </a:t>
            </a:r>
            <a:r>
              <a:rPr lang="en-US" sz="2000" b="1">
                <a:ea typeface="+mn-lt"/>
                <a:cs typeface="+mn-lt"/>
              </a:rPr>
              <a:t>≥ 20 mm</a:t>
            </a:r>
            <a:r>
              <a:rPr lang="en-US" sz="2000">
                <a:ea typeface="+mn-lt"/>
                <a:cs typeface="+mn-lt"/>
              </a:rPr>
              <a:t> diameter, top or easily accessible side; stops actuators immediately.</a:t>
            </a:r>
            <a:endParaRPr lang="en-US" sz="2000">
              <a:ea typeface="Source Sans Pro"/>
            </a:endParaRPr>
          </a:p>
          <a:p>
            <a:r>
              <a:rPr lang="en-US" sz="2000" b="1">
                <a:ea typeface="+mn-lt"/>
                <a:cs typeface="+mn-lt"/>
              </a:rPr>
              <a:t>Avoidance system is mandatory</a:t>
            </a:r>
            <a:r>
              <a:rPr lang="en-US" sz="2000">
                <a:ea typeface="+mn-lt"/>
                <a:cs typeface="+mn-lt"/>
              </a:rPr>
              <a:t> (detect/avoid opponent robots). Non-functional avoidance → point loss; deliberate deactivation → </a:t>
            </a:r>
            <a:r>
              <a:rPr lang="en-US" sz="2000" b="1">
                <a:ea typeface="+mn-lt"/>
                <a:cs typeface="+mn-lt"/>
              </a:rPr>
              <a:t>disqualification</a:t>
            </a:r>
            <a:r>
              <a:rPr lang="en-US" sz="2000">
                <a:ea typeface="+mn-lt"/>
                <a:cs typeface="+mn-lt"/>
              </a:rPr>
              <a:t>.</a:t>
            </a:r>
            <a:endParaRPr lang="en-US" sz="2000">
              <a:ea typeface="Source Sans Pro"/>
            </a:endParaRPr>
          </a:p>
          <a:p>
            <a:r>
              <a:rPr lang="en-US" sz="2000">
                <a:ea typeface="+mn-lt"/>
                <a:cs typeface="+mn-lt"/>
              </a:rPr>
              <a:t>Reserve a </a:t>
            </a:r>
            <a:r>
              <a:rPr lang="en-US" sz="2000" b="1">
                <a:ea typeface="+mn-lt"/>
                <a:cs typeface="+mn-lt"/>
              </a:rPr>
              <a:t>100 × 70 mm flat area</a:t>
            </a:r>
            <a:r>
              <a:rPr lang="en-US" sz="2000">
                <a:ea typeface="+mn-lt"/>
                <a:cs typeface="+mn-lt"/>
              </a:rPr>
              <a:t> on a side face for official stickers.</a:t>
            </a:r>
            <a:endParaRPr lang="en-US" sz="2000">
              <a:ea typeface="Source Sans Pro"/>
            </a:endParaRPr>
          </a:p>
          <a:p>
            <a:r>
              <a:rPr lang="en-US" sz="2000" b="1">
                <a:ea typeface="+mn-lt"/>
                <a:cs typeface="+mn-lt"/>
              </a:rPr>
              <a:t>Start device</a:t>
            </a:r>
            <a:r>
              <a:rPr lang="en-US" sz="2000">
                <a:ea typeface="+mn-lt"/>
                <a:cs typeface="+mn-lt"/>
              </a:rPr>
              <a:t> must be a </a:t>
            </a:r>
            <a:r>
              <a:rPr lang="en-US" sz="2000" b="1">
                <a:ea typeface="+mn-lt"/>
                <a:cs typeface="+mn-lt"/>
              </a:rPr>
              <a:t>≥ 500 mm pull-cord</a:t>
            </a:r>
            <a:r>
              <a:rPr lang="en-US" sz="2000">
                <a:ea typeface="+mn-lt"/>
                <a:cs typeface="+mn-lt"/>
              </a:rPr>
              <a:t> trigger (no </a:t>
            </a:r>
            <a:r>
              <a:rPr lang="en-US" sz="2000">
                <a:ea typeface="Source Sans Pro"/>
              </a:rPr>
              <a:t>remote</a:t>
            </a:r>
            <a:r>
              <a:rPr lang="en-US" sz="2000">
                <a:ea typeface="+mn-lt"/>
                <a:cs typeface="+mn-lt"/>
              </a:rPr>
              <a:t> toggles).</a:t>
            </a:r>
            <a:endParaRPr lang="en-US" sz="2000">
              <a:ea typeface="Source Sans Pro"/>
            </a:endParaRPr>
          </a:p>
          <a:p>
            <a:endParaRPr lang="en-US" sz="2000">
              <a:ea typeface="Source Sans Pro"/>
            </a:endParaRPr>
          </a:p>
          <a:p>
            <a:endParaRPr lang="en-US" sz="2000">
              <a:ea typeface="+mn-lt"/>
              <a:cs typeface="+mn-lt"/>
            </a:endParaRPr>
          </a:p>
          <a:p>
            <a:r>
              <a:rPr lang="en-US" sz="2000" b="1">
                <a:ea typeface="+mn-lt"/>
                <a:cs typeface="+mn-lt"/>
              </a:rPr>
              <a:t>Match flow (for planning &amp; testing)</a:t>
            </a:r>
            <a:endParaRPr lang="en-US" sz="2000">
              <a:ea typeface="+mn-lt"/>
              <a:cs typeface="+mn-lt"/>
            </a:endParaRPr>
          </a:p>
          <a:p>
            <a:pPr marL="285750" indent="-285750">
              <a:buFont typeface="Arial,Sans-Serif"/>
              <a:buChar char="•"/>
            </a:pPr>
            <a:r>
              <a:rPr lang="en-US" sz="2000" b="1">
                <a:ea typeface="+mn-lt"/>
                <a:cs typeface="+mn-lt"/>
              </a:rPr>
              <a:t>Prep time: 3 min</a:t>
            </a:r>
            <a:r>
              <a:rPr lang="en-US" sz="2000">
                <a:ea typeface="+mn-lt"/>
                <a:cs typeface="+mn-lt"/>
              </a:rPr>
              <a:t> on table; </a:t>
            </a:r>
            <a:r>
              <a:rPr lang="en-US" sz="2000" b="1">
                <a:ea typeface="+mn-lt"/>
                <a:cs typeface="+mn-lt"/>
              </a:rPr>
              <a:t>match: 100 s</a:t>
            </a:r>
            <a:r>
              <a:rPr lang="en-US" sz="2000">
                <a:ea typeface="+mn-lt"/>
                <a:cs typeface="+mn-lt"/>
              </a:rPr>
              <a:t>; at T=100 s actuators must stop. </a:t>
            </a:r>
          </a:p>
          <a:p>
            <a:endParaRPr lang="en-US" sz="2000">
              <a:ea typeface="Source Sans Pro"/>
            </a:endParaRPr>
          </a:p>
          <a:p>
            <a:endParaRPr lang="en-US" sz="2000">
              <a:ea typeface="Source Sans Pro"/>
            </a:endParaRPr>
          </a:p>
          <a:p>
            <a:pPr marL="342900" indent="-342900">
              <a:buFont typeface="Arial"/>
              <a:buChar char="•"/>
            </a:pPr>
            <a:endParaRPr lang="en-US" sz="2000">
              <a:ea typeface="Source Sans Pro"/>
            </a:endParaRPr>
          </a:p>
          <a:p>
            <a:endParaRPr lang="en-US">
              <a:ea typeface="Source Sans Pro"/>
            </a:endParaRPr>
          </a:p>
        </p:txBody>
      </p:sp>
    </p:spTree>
    <p:extLst>
      <p:ext uri="{BB962C8B-B14F-4D97-AF65-F5344CB8AC3E}">
        <p14:creationId xmlns:p14="http://schemas.microsoft.com/office/powerpoint/2010/main" val="20265939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7159491"/>
            <a:ext cx="10051483" cy="610106"/>
          </a:xfrm>
          <a:prstGeom prst="rect">
            <a:avLst/>
          </a:prstGeom>
          <a:solidFill>
            <a:srgbClr val="0070C0"/>
          </a:solidFill>
          <a:ln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000" b="1">
                <a:solidFill>
                  <a:srgbClr val="FFFFFF"/>
                </a:solidFill>
                <a:latin typeface="Times New Roman" panose="02020603050405020304"/>
              </a:rPr>
              <a:t>                                      </a:t>
            </a:r>
            <a:r>
              <a:rPr lang="en-US" sz="2000" b="1" baseline="0">
                <a:solidFill>
                  <a:srgbClr val="FFFFFF"/>
                </a:solidFill>
                <a:latin typeface="Times New Roman" panose="02020603050405020304"/>
              </a:rPr>
              <a:t>Page - </a:t>
            </a:r>
            <a:r>
              <a:rPr lang="en-US" sz="2000" b="1">
                <a:solidFill>
                  <a:srgbClr val="FFFFFF"/>
                </a:solidFill>
                <a:latin typeface="Times New Roman" panose="02020603050405020304"/>
              </a:rPr>
              <a:t>05</a:t>
            </a:r>
            <a:endParaRPr lang="en-US" sz="2000">
              <a:latin typeface="Times New Roman" panose="02020603050405020304"/>
              <a:ea typeface="Source Sans Pro"/>
              <a:cs typeface="Times New Roman" panose="02020603050405020304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681" y="-4267"/>
            <a:ext cx="10051483" cy="870815"/>
          </a:xfrm>
          <a:prstGeom prst="rect">
            <a:avLst/>
          </a:prstGeom>
          <a:solidFill>
            <a:srgbClr val="0070C0"/>
          </a:solidFill>
          <a:ln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800" b="1">
                <a:solidFill>
                  <a:schemeClr val="bg1"/>
                </a:solidFill>
                <a:latin typeface="Times New Roman"/>
                <a:ea typeface="+mn-lt"/>
                <a:cs typeface="+mn-lt"/>
              </a:rPr>
              <a:t>Electrical Section</a:t>
            </a:r>
            <a:endParaRPr lang="zh-CN" altLang="en-US">
              <a:solidFill>
                <a:schemeClr val="bg1"/>
              </a:solidFill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TM45264798">
      <a:dk1>
        <a:srgbClr val="000000"/>
      </a:dk1>
      <a:lt1>
        <a:srgbClr val="FFFFFF"/>
      </a:lt1>
      <a:dk2>
        <a:srgbClr val="000000"/>
      </a:dk2>
      <a:lt2>
        <a:srgbClr val="F8F8F8"/>
      </a:lt2>
      <a:accent1>
        <a:srgbClr val="00FF66"/>
      </a:accent1>
      <a:accent2>
        <a:srgbClr val="300BE5"/>
      </a:accent2>
      <a:accent3>
        <a:srgbClr val="DFFE00"/>
      </a:accent3>
      <a:accent4>
        <a:srgbClr val="FD124A"/>
      </a:accent4>
      <a:accent5>
        <a:srgbClr val="FF19FD"/>
      </a:accent5>
      <a:accent6>
        <a:srgbClr val="19D5FE"/>
      </a:accent6>
      <a:hlink>
        <a:srgbClr val="5F5F5F"/>
      </a:hlink>
      <a:folHlink>
        <a:srgbClr val="919191"/>
      </a:folHlink>
    </a:clrScheme>
    <a:fontScheme name="Custom 86">
      <a:majorFont>
        <a:latin typeface="Berlin Sans FB Demi"/>
        <a:ea typeface=""/>
        <a:cs typeface=""/>
      </a:majorFont>
      <a:minorFont>
        <a:latin typeface="Source Sans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6362ed64-5462-414c-9803-0603109fd2d2">
      <Terms xmlns="http://schemas.microsoft.com/office/infopath/2007/PartnerControls"/>
    </lcf76f155ced4ddcb4097134ff3c332f>
    <TaxCatchAll xmlns="d130cb11-9037-4762-b78b-51c9d498595d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B459D34CEFF0D499359F2F887F5B222" ma:contentTypeVersion="11" ma:contentTypeDescription="Create a new document." ma:contentTypeScope="" ma:versionID="ad48b9c3ec7574c217dd2e792c42212b">
  <xsd:schema xmlns:xsd="http://www.w3.org/2001/XMLSchema" xmlns:xs="http://www.w3.org/2001/XMLSchema" xmlns:p="http://schemas.microsoft.com/office/2006/metadata/properties" xmlns:ns2="6362ed64-5462-414c-9803-0603109fd2d2" xmlns:ns3="d130cb11-9037-4762-b78b-51c9d498595d" targetNamespace="http://schemas.microsoft.com/office/2006/metadata/properties" ma:root="true" ma:fieldsID="0020ecc9554fa40085ee29a3af38971d" ns2:_="" ns3:_="">
    <xsd:import namespace="6362ed64-5462-414c-9803-0603109fd2d2"/>
    <xsd:import namespace="d130cb11-9037-4762-b78b-51c9d498595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362ed64-5462-414c-9803-0603109fd2d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588c3168-a240-49a5-981b-89ab6abaef8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130cb11-9037-4762-b78b-51c9d498595d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dd8b8587-c05e-4dfb-9297-115e0a821a3f}" ma:internalName="TaxCatchAll" ma:showField="CatchAllData" ma:web="d130cb11-9037-4762-b78b-51c9d498595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A9AFD841-9385-4F7E-A5A9-AECA7F588967}">
  <ds:schemaRefs>
    <ds:schemaRef ds:uri="6362ed64-5462-414c-9803-0603109fd2d2"/>
    <ds:schemaRef ds:uri="d130cb11-9037-4762-b78b-51c9d498595d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41D676D5-91E3-4621-859D-BFBE42CCCD3E}">
  <ds:schemaRefs/>
</ds:datastoreItem>
</file>

<file path=customXml/itemProps3.xml><?xml version="1.0" encoding="utf-8"?>
<ds:datastoreItem xmlns:ds="http://schemas.openxmlformats.org/officeDocument/2006/customXml" ds:itemID="{96A12014-3628-4BE9-8CE9-1A382418212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362ed64-5462-414c-9803-0603109fd2d2"/>
    <ds:schemaRef ds:uri="d130cb11-9037-4762-b78b-51c9d498595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Robots coloring book</Template>
  <Application>Microsoft Office PowerPoint</Application>
  <PresentationFormat>Custom</PresentationFormat>
  <Slides>11</Slides>
  <Notes>1</Notes>
  <HiddenSlides>3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Office Theme</vt:lpstr>
      <vt:lpstr>Cover Page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Cover Page</dc:title>
  <dc:creator>Samsaam Ali Baig</dc:creator>
  <cp:revision>35</cp:revision>
  <dcterms:created xsi:type="dcterms:W3CDTF">2025-02-25T07:51:00Z</dcterms:created>
  <dcterms:modified xsi:type="dcterms:W3CDTF">2026-01-22T14:04:36Z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0x010100AB459D34CEFF0D499359F2F887F5B222</vt:lpwstr>
  </property>
  <property fmtid="{D5CDD505-2E9C-101B-9397-08002B2CF9AE}" pid="3" name="MediaServiceImageTags">
    <vt:lpwstr/>
  </property>
  <property fmtid="{D5CDD505-2E9C-101B-9397-08002B2CF9AE}" pid="4" name="ICV">
    <vt:lpwstr>FC31AE320F884F22B1BFD7BFECDFFF77_13</vt:lpwstr>
  </property>
  <property fmtid="{D5CDD505-2E9C-101B-9397-08002B2CF9AE}" pid="5" name="KSOProductBuildVer">
    <vt:lpwstr>1033-12.2.0.23131</vt:lpwstr>
  </property>
</Properties>
</file>